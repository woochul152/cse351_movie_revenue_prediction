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DM Sans Medium"/>
      <p:regular r:id="rId33"/>
      <p:bold r:id="rId34"/>
      <p:italic r:id="rId35"/>
      <p:boldItalic r:id="rId36"/>
    </p:embeddedFont>
    <p:embeddedFont>
      <p:font typeface="Merriweather"/>
      <p:regular r:id="rId37"/>
      <p:bold r:id="rId38"/>
      <p:italic r:id="rId39"/>
      <p:boldItalic r:id="rId40"/>
    </p:embeddedFont>
    <p:embeddedFont>
      <p:font typeface="DM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6FB766-3736-4334-9442-F2F18CBD039A}">
  <a:tblStyle styleId="{496FB766-3736-4334-9442-F2F18CBD039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boldItalic.fntdata"/><Relationship Id="rId20" Type="http://schemas.openxmlformats.org/officeDocument/2006/relationships/slide" Target="slides/slide14.xml"/><Relationship Id="rId42" Type="http://schemas.openxmlformats.org/officeDocument/2006/relationships/font" Target="fonts/DMSans-bold.fntdata"/><Relationship Id="rId41" Type="http://schemas.openxmlformats.org/officeDocument/2006/relationships/font" Target="fonts/DMSans-regular.fntdata"/><Relationship Id="rId22" Type="http://schemas.openxmlformats.org/officeDocument/2006/relationships/slide" Target="slides/slide16.xml"/><Relationship Id="rId44" Type="http://schemas.openxmlformats.org/officeDocument/2006/relationships/font" Target="fonts/DMSans-boldItalic.fntdata"/><Relationship Id="rId21" Type="http://schemas.openxmlformats.org/officeDocument/2006/relationships/slide" Target="slides/slide15.xml"/><Relationship Id="rId43" Type="http://schemas.openxmlformats.org/officeDocument/2006/relationships/font" Target="fonts/DMSans-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DMSansMedium-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DMSansMedium-italic.fntdata"/><Relationship Id="rId12" Type="http://schemas.openxmlformats.org/officeDocument/2006/relationships/slide" Target="slides/slide6.xml"/><Relationship Id="rId34" Type="http://schemas.openxmlformats.org/officeDocument/2006/relationships/font" Target="fonts/DMSansMedium-bold.fntdata"/><Relationship Id="rId15" Type="http://schemas.openxmlformats.org/officeDocument/2006/relationships/slide" Target="slides/slide9.xml"/><Relationship Id="rId37" Type="http://schemas.openxmlformats.org/officeDocument/2006/relationships/font" Target="fonts/Merriweather-regular.fntdata"/><Relationship Id="rId14" Type="http://schemas.openxmlformats.org/officeDocument/2006/relationships/slide" Target="slides/slide8.xml"/><Relationship Id="rId36" Type="http://schemas.openxmlformats.org/officeDocument/2006/relationships/font" Target="fonts/DMSansMedium-boldItalic.fntdata"/><Relationship Id="rId17" Type="http://schemas.openxmlformats.org/officeDocument/2006/relationships/slide" Target="slides/slide11.xml"/><Relationship Id="rId39" Type="http://schemas.openxmlformats.org/officeDocument/2006/relationships/font" Target="fonts/Merriweather-italic.fntdata"/><Relationship Id="rId16" Type="http://schemas.openxmlformats.org/officeDocument/2006/relationships/slide" Target="slides/slide10.xml"/><Relationship Id="rId38" Type="http://schemas.openxmlformats.org/officeDocument/2006/relationships/font" Target="fonts/Merriweather-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b78ff08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b78ff08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b78ff08d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b78ff08d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ab78ff08d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ab78ff08d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b78ff08d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b78ff08d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b78ff08df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b78ff08d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EDA problem is to analyze the number of movies released by day of week, month and, year.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b78ff08df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ab78ff08df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b78ff08df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ab78ff08df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we the increased number of movies releases as the time passes. It might be because of the growth in the movie market size.</a:t>
            </a:r>
            <a:endParaRPr/>
          </a:p>
          <a:p>
            <a:pPr indent="0" lvl="0" marL="0" rtl="0" algn="l">
              <a:spcBef>
                <a:spcPts val="0"/>
              </a:spcBef>
              <a:spcAft>
                <a:spcPts val="0"/>
              </a:spcAft>
              <a:buNone/>
            </a:pPr>
            <a:r>
              <a:rPr lang="en"/>
              <a:t>You can see a drop of the </a:t>
            </a:r>
            <a:r>
              <a:rPr lang="en"/>
              <a:t>number</a:t>
            </a:r>
            <a:r>
              <a:rPr lang="en"/>
              <a:t> of movie releases from 2000 to 2010. </a:t>
            </a:r>
            <a:endParaRPr/>
          </a:p>
          <a:p>
            <a:pPr indent="0" lvl="0" marL="0" rtl="0" algn="l">
              <a:spcBef>
                <a:spcPts val="0"/>
              </a:spcBef>
              <a:spcAft>
                <a:spcPts val="0"/>
              </a:spcAft>
              <a:buNone/>
            </a:pPr>
            <a:r>
              <a:rPr lang="en"/>
              <a:t>This is because the most recent movie in the data was released in 2017, so the data doesn’t </a:t>
            </a:r>
            <a:r>
              <a:rPr lang="en"/>
              <a:t>reflect</a:t>
            </a:r>
            <a:r>
              <a:rPr lang="en"/>
              <a:t> the actual number of movies released in 2010s.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b78ff08df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b78ff08df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b78ff08df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ab78ff08df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this heatmap, we can examine the correlation between revenue and other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analyze which features are strongly and weakly correlated.</a:t>
            </a:r>
            <a:endParaRPr/>
          </a:p>
          <a:p>
            <a:pPr indent="0" lvl="0" marL="0" rtl="0" algn="l">
              <a:spcBef>
                <a:spcPts val="0"/>
              </a:spcBef>
              <a:spcAft>
                <a:spcPts val="0"/>
              </a:spcAft>
              <a:buNone/>
            </a:pPr>
            <a:r>
              <a:rPr lang="en"/>
              <a:t>Vote count and the average revenue per company have a strongest correlation with revenue.</a:t>
            </a:r>
            <a:endParaRPr/>
          </a:p>
          <a:p>
            <a:pPr indent="0" lvl="0" marL="0" rtl="0" algn="l">
              <a:spcBef>
                <a:spcPts val="0"/>
              </a:spcBef>
              <a:spcAft>
                <a:spcPts val="0"/>
              </a:spcAft>
              <a:buNone/>
            </a:pPr>
            <a:r>
              <a:rPr lang="en"/>
              <a:t>And the budget comes the second, popularity comes the third.</a:t>
            </a:r>
            <a:endParaRPr/>
          </a:p>
          <a:p>
            <a:pPr indent="0" lvl="0" marL="0" rtl="0" algn="l">
              <a:spcBef>
                <a:spcPts val="0"/>
              </a:spcBef>
              <a:spcAft>
                <a:spcPts val="0"/>
              </a:spcAft>
              <a:buNone/>
            </a:pPr>
            <a:r>
              <a:rPr lang="en"/>
              <a:t>Feature that has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b78ff08df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b78ff08df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b78ff08df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ab78ff08df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b78ff08df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ab78ff08df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Linear relationship - single independent variable - a single dependent variable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Single best-fitting straight line - Ordinary Least Squares (OLS) method.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b78ff08df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ab78ff08df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or more independent variables - a single dependent variable </a:t>
            </a:r>
            <a:endParaRPr/>
          </a:p>
          <a:p>
            <a:pPr indent="0" lvl="0" marL="0" rtl="0" algn="l">
              <a:spcBef>
                <a:spcPts val="0"/>
              </a:spcBef>
              <a:spcAft>
                <a:spcPts val="0"/>
              </a:spcAft>
              <a:buNone/>
            </a:pPr>
            <a:r>
              <a:rPr lang="en"/>
              <a:t>Each independent variable has its own independent </a:t>
            </a:r>
            <a:r>
              <a:rPr lang="en"/>
              <a:t>weight</a:t>
            </a:r>
            <a:r>
              <a:rPr lang="en"/>
              <a:t> which will be coefficient of each variable.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Find the best-fitting hyperplane in a multi-dimensional space, </a:t>
            </a:r>
            <a:r>
              <a:rPr lang="en"/>
              <a:t>meaning</a:t>
            </a:r>
            <a:r>
              <a:rPr lang="en"/>
              <a:t> that it won’t be able to </a:t>
            </a:r>
            <a:r>
              <a:rPr lang="en"/>
              <a:t>visualize if it exceeds third dimension.</a:t>
            </a:r>
            <a:endParaRPr/>
          </a:p>
          <a:p>
            <a:pPr indent="0" lvl="0" marL="0" rtl="0" algn="l">
              <a:spcBef>
                <a:spcPts val="0"/>
              </a:spcBef>
              <a:spcAft>
                <a:spcPts val="0"/>
              </a:spcAft>
              <a:buNone/>
            </a:pPr>
            <a:r>
              <a:rPr lang="en"/>
              <a:t>OLS algorithm -&gt; assign an the most optimum weight to each training variable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ab78ff08df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ab78ff08df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New features could be the </a:t>
            </a:r>
            <a:r>
              <a:rPr lang="en"/>
              <a:t>square</a:t>
            </a:r>
            <a:r>
              <a:rPr lang="en"/>
              <a:t> of one training variables, or multiplication of two or more training variables.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b78ff08d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ab78ff08d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호찬님</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b9e2988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b9e2988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호찬님</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ab78ff08df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ab78ff08df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ab78ff08df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ab78ff08df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ab78ff08d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ab78ff08d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ab78ff08df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ab78ff08df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ab78ff08d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ab78ff08d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ab78ff08df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ab78ff08df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ab9a17b1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ab9a17b1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우철</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whole summary of RSEs from testing and training data in two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looking at RSEs of the training data, as the models become complex, they give less error values.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a:t>
            </a:r>
            <a:r>
              <a:rPr lang="en"/>
              <a:t>, testing data of the Case 1, which is data splitted by time period, gave the highest RSE.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ab78ff08df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ab78ff08df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ab78ff08d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ab78ff08d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b9e2988f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ab9e2988f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33" name="Google Shape;133;p2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34" name="Google Shape;134;p23"/>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5" name="Google Shape;135;p23"/>
          <p:cNvSpPr/>
          <p:nvPr>
            <p:ph idx="3" type="pic"/>
          </p:nvPr>
        </p:nvSpPr>
        <p:spPr>
          <a:xfrm>
            <a:off x="4437578" y="2171250"/>
            <a:ext cx="4509600" cy="2775600"/>
          </a:xfrm>
          <a:prstGeom prst="round2DiagRect">
            <a:avLst>
              <a:gd fmla="val 16667" name="adj1"/>
              <a:gd fmla="val 0" name="adj2"/>
            </a:avLst>
          </a:prstGeom>
          <a:noFill/>
          <a:ln>
            <a:noFill/>
          </a:ln>
        </p:spPr>
      </p:sp>
      <p:sp>
        <p:nvSpPr>
          <p:cNvPr id="136" name="Google Shape;136;p23"/>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37" name="Shape 137"/>
        <p:cNvGrpSpPr/>
        <p:nvPr/>
      </p:nvGrpSpPr>
      <p:grpSpPr>
        <a:xfrm>
          <a:off x="0" y="0"/>
          <a:ext cx="0" cy="0"/>
          <a:chOff x="0" y="0"/>
          <a:chExt cx="0" cy="0"/>
        </a:xfrm>
      </p:grpSpPr>
      <p:sp>
        <p:nvSpPr>
          <p:cNvPr id="138" name="Google Shape;138;p24"/>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4"/>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1" name="Google Shape;141;p24"/>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24"/>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24"/>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4" name="Google Shape;144;p2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45" name="Google Shape;145;p24"/>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49" name="Google Shape;149;p25"/>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50" name="Google Shape;150;p25"/>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51" name="Shape 151"/>
        <p:cNvGrpSpPr/>
        <p:nvPr/>
      </p:nvGrpSpPr>
      <p:grpSpPr>
        <a:xfrm>
          <a:off x="0" y="0"/>
          <a:ext cx="0" cy="0"/>
          <a:chOff x="0" y="0"/>
          <a:chExt cx="0" cy="0"/>
        </a:xfrm>
      </p:grpSpPr>
      <p:sp>
        <p:nvSpPr>
          <p:cNvPr id="152" name="Google Shape;15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54" name="Google Shape;154;p26"/>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55" name="Google Shape;155;p2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156" name="Shape 156"/>
        <p:cNvGrpSpPr/>
        <p:nvPr/>
      </p:nvGrpSpPr>
      <p:grpSpPr>
        <a:xfrm>
          <a:off x="0" y="0"/>
          <a:ext cx="0" cy="0"/>
          <a:chOff x="0" y="0"/>
          <a:chExt cx="0" cy="0"/>
        </a:xfrm>
      </p:grpSpPr>
      <p:sp>
        <p:nvSpPr>
          <p:cNvPr id="157" name="Google Shape;157;p2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2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27"/>
          <p:cNvSpPr/>
          <p:nvPr>
            <p:ph idx="2" type="pic"/>
          </p:nvPr>
        </p:nvSpPr>
        <p:spPr>
          <a:xfrm>
            <a:off x="3726325" y="669925"/>
            <a:ext cx="5220900" cy="4276800"/>
          </a:xfrm>
          <a:prstGeom prst="round2DiagRect">
            <a:avLst>
              <a:gd fmla="val 16667" name="adj1"/>
              <a:gd fmla="val 0" name="adj2"/>
            </a:avLst>
          </a:prstGeom>
          <a:noFill/>
          <a:ln>
            <a:noFill/>
          </a:ln>
        </p:spPr>
      </p:sp>
      <p:sp>
        <p:nvSpPr>
          <p:cNvPr id="161" name="Google Shape;161;p27"/>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62" name="Google Shape;162;p2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163" name="Shape 163"/>
        <p:cNvGrpSpPr/>
        <p:nvPr/>
      </p:nvGrpSpPr>
      <p:grpSpPr>
        <a:xfrm>
          <a:off x="0" y="0"/>
          <a:ext cx="0" cy="0"/>
          <a:chOff x="0" y="0"/>
          <a:chExt cx="0" cy="0"/>
        </a:xfrm>
      </p:grpSpPr>
      <p:sp>
        <p:nvSpPr>
          <p:cNvPr id="164" name="Google Shape;164;p2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165" name="Google Shape;165;p2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166" name="Google Shape;16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p:nvPr>
            <p:ph idx="2" type="pic"/>
          </p:nvPr>
        </p:nvSpPr>
        <p:spPr>
          <a:xfrm>
            <a:off x="3726325" y="669925"/>
            <a:ext cx="5220900" cy="4276800"/>
          </a:xfrm>
          <a:prstGeom prst="round2DiagRect">
            <a:avLst>
              <a:gd fmla="val 16667" name="adj1"/>
              <a:gd fmla="val 0" name="adj2"/>
            </a:avLst>
          </a:prstGeom>
          <a:noFill/>
          <a:ln>
            <a:noFill/>
          </a:ln>
        </p:spPr>
      </p:sp>
      <p:sp>
        <p:nvSpPr>
          <p:cNvPr id="168" name="Google Shape;168;p2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69" name="Google Shape;169;p2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170" name="Google Shape;170;p2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171" name="Shape 171"/>
        <p:cNvGrpSpPr/>
        <p:nvPr/>
      </p:nvGrpSpPr>
      <p:grpSpPr>
        <a:xfrm>
          <a:off x="0" y="0"/>
          <a:ext cx="0" cy="0"/>
          <a:chOff x="0" y="0"/>
          <a:chExt cx="0" cy="0"/>
        </a:xfrm>
      </p:grpSpPr>
      <p:sp>
        <p:nvSpPr>
          <p:cNvPr id="172" name="Google Shape;172;p29"/>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3" name="Google Shape;17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175" name="Google Shape;175;p2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176" name="Google Shape;176;p29"/>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77" name="Google Shape;177;p2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178" name="Shape 178"/>
        <p:cNvGrpSpPr/>
        <p:nvPr/>
      </p:nvGrpSpPr>
      <p:grpSpPr>
        <a:xfrm>
          <a:off x="0" y="0"/>
          <a:ext cx="0" cy="0"/>
          <a:chOff x="0" y="0"/>
          <a:chExt cx="0" cy="0"/>
        </a:xfrm>
      </p:grpSpPr>
      <p:sp>
        <p:nvSpPr>
          <p:cNvPr id="179" name="Google Shape;17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30"/>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1" name="Google Shape;181;p30"/>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2" name="Google Shape;182;p30"/>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3" name="Google Shape;183;p30"/>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4" name="Google Shape;184;p30"/>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5" name="Google Shape;185;p30"/>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6" name="Google Shape;186;p30"/>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7" name="Google Shape;187;p30"/>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8" name="Google Shape;188;p30"/>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9" name="Google Shape;189;p30"/>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0" name="Google Shape;190;p30"/>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1" name="Google Shape;191;p30"/>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2" name="Google Shape;192;p30"/>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3" name="Google Shape;193;p30"/>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4" name="Google Shape;194;p30"/>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5" name="Google Shape;195;p30"/>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6" name="Google Shape;196;p30"/>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7" name="Google Shape;197;p30"/>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8" name="Google Shape;198;p30"/>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9" name="Google Shape;199;p30"/>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0" name="Google Shape;200;p30"/>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1" name="Google Shape;201;p30"/>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2" name="Google Shape;202;p30"/>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3" name="Google Shape;203;p30"/>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4" name="Google Shape;204;p30"/>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5" name="Google Shape;205;p30"/>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6" name="Google Shape;206;p30"/>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7" name="Google Shape;207;p30"/>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8" name="Google Shape;208;p30"/>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09" name="Shape 209"/>
        <p:cNvGrpSpPr/>
        <p:nvPr/>
      </p:nvGrpSpPr>
      <p:grpSpPr>
        <a:xfrm>
          <a:off x="0" y="0"/>
          <a:ext cx="0" cy="0"/>
          <a:chOff x="0" y="0"/>
          <a:chExt cx="0" cy="0"/>
        </a:xfrm>
      </p:grpSpPr>
      <p:sp>
        <p:nvSpPr>
          <p:cNvPr id="210" name="Google Shape;21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3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12" name="Google Shape;212;p3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 Id="rId3" Type="http://schemas.openxmlformats.org/officeDocument/2006/relationships/image" Target="../media/image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idx="4" type="body"/>
          </p:nvPr>
        </p:nvSpPr>
        <p:spPr>
          <a:xfrm>
            <a:off x="8208751" y="196725"/>
            <a:ext cx="8124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Nov</a:t>
            </a:r>
            <a:r>
              <a:rPr lang="en"/>
              <a:t>.30.25</a:t>
            </a:r>
            <a:endParaRPr/>
          </a:p>
        </p:txBody>
      </p:sp>
      <p:sp>
        <p:nvSpPr>
          <p:cNvPr id="218" name="Google Shape;218;p32"/>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CSE 351</a:t>
            </a:r>
            <a:endParaRPr/>
          </a:p>
          <a:p>
            <a:pPr indent="0" lvl="0" marL="0" rtl="0" algn="l">
              <a:spcBef>
                <a:spcPts val="0"/>
              </a:spcBef>
              <a:spcAft>
                <a:spcPts val="0"/>
              </a:spcAft>
              <a:buNone/>
            </a:pPr>
            <a:r>
              <a:rPr lang="en"/>
              <a:t>Presentation</a:t>
            </a:r>
            <a:endParaRPr/>
          </a:p>
        </p:txBody>
      </p:sp>
      <p:sp>
        <p:nvSpPr>
          <p:cNvPr id="219" name="Google Shape;219;p32"/>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Movie Revenue Prediction</a:t>
            </a:r>
            <a:endParaRPr/>
          </a:p>
        </p:txBody>
      </p:sp>
      <p:sp>
        <p:nvSpPr>
          <p:cNvPr id="220" name="Google Shape;220;p32"/>
          <p:cNvSpPr txBox="1"/>
          <p:nvPr>
            <p:ph idx="1" type="body"/>
          </p:nvPr>
        </p:nvSpPr>
        <p:spPr>
          <a:xfrm>
            <a:off x="196950" y="4114800"/>
            <a:ext cx="2107200" cy="8319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1600"/>
              <a:t>Hochan Jun</a:t>
            </a:r>
            <a:br>
              <a:rPr lang="en" sz="1600"/>
            </a:br>
            <a:r>
              <a:rPr lang="en" sz="1600"/>
              <a:t>Woochul Lim</a:t>
            </a:r>
            <a:endParaRPr sz="1600"/>
          </a:p>
        </p:txBody>
      </p:sp>
      <p:pic>
        <p:nvPicPr>
          <p:cNvPr descr="Blue and green wave pattern. " id="221" name="Google Shape;221;p32"/>
          <p:cNvPicPr preferRelativeResize="0"/>
          <p:nvPr>
            <p:ph idx="3" type="pic"/>
          </p:nvPr>
        </p:nvPicPr>
        <p:blipFill rotWithShape="1">
          <a:blip r:embed="rId3">
            <a:alphaModFix/>
          </a:blip>
          <a:srcRect b="797" l="0" r="0" t="797"/>
          <a:stretch/>
        </p:blipFill>
        <p:spPr>
          <a:xfrm>
            <a:off x="4437578" y="2171250"/>
            <a:ext cx="4509600" cy="2775600"/>
          </a:xfrm>
          <a:prstGeom prst="round2DiagRect">
            <a:avLst>
              <a:gd fmla="val 16667" name="adj1"/>
              <a:gd fmla="val 0" name="adj2"/>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900"/>
              <a:t>Agenda</a:t>
            </a:r>
            <a:endParaRPr sz="900"/>
          </a:p>
        </p:txBody>
      </p:sp>
      <p:sp>
        <p:nvSpPr>
          <p:cNvPr id="228" name="Google Shape;228;p33"/>
          <p:cNvSpPr txBox="1"/>
          <p:nvPr/>
        </p:nvSpPr>
        <p:spPr>
          <a:xfrm>
            <a:off x="516437" y="686073"/>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350">
                <a:solidFill>
                  <a:schemeClr val="dk1"/>
                </a:solidFill>
                <a:latin typeface="Merriweather"/>
                <a:ea typeface="Merriweather"/>
                <a:cs typeface="Merriweather"/>
                <a:sym typeface="Merriweather"/>
              </a:rPr>
              <a:t>Our Goal</a:t>
            </a:r>
            <a:endParaRPr b="1" sz="3350">
              <a:solidFill>
                <a:schemeClr val="dk1"/>
              </a:solidFill>
              <a:latin typeface="Merriweather"/>
              <a:ea typeface="Merriweather"/>
              <a:cs typeface="Merriweather"/>
              <a:sym typeface="Merriweather"/>
            </a:endParaRPr>
          </a:p>
        </p:txBody>
      </p:sp>
      <p:sp>
        <p:nvSpPr>
          <p:cNvPr id="229" name="Google Shape;229;p33"/>
          <p:cNvSpPr txBox="1"/>
          <p:nvPr/>
        </p:nvSpPr>
        <p:spPr>
          <a:xfrm>
            <a:off x="516437" y="15255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350">
                <a:solidFill>
                  <a:schemeClr val="dk1"/>
                </a:solidFill>
                <a:latin typeface="Merriweather"/>
                <a:ea typeface="Merriweather"/>
                <a:cs typeface="Merriweather"/>
                <a:sym typeface="Merriweather"/>
              </a:rPr>
              <a:t>Preprocessing &amp; EDA</a:t>
            </a:r>
            <a:endParaRPr b="1" sz="3350">
              <a:solidFill>
                <a:schemeClr val="dk1"/>
              </a:solidFill>
              <a:latin typeface="Merriweather"/>
              <a:ea typeface="Merriweather"/>
              <a:cs typeface="Merriweather"/>
              <a:sym typeface="Merriweather"/>
            </a:endParaRPr>
          </a:p>
        </p:txBody>
      </p:sp>
      <p:sp>
        <p:nvSpPr>
          <p:cNvPr id="230" name="Google Shape;230;p33"/>
          <p:cNvSpPr txBox="1"/>
          <p:nvPr/>
        </p:nvSpPr>
        <p:spPr>
          <a:xfrm>
            <a:off x="516437" y="235333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350">
                <a:solidFill>
                  <a:schemeClr val="dk1"/>
                </a:solidFill>
                <a:latin typeface="Merriweather"/>
                <a:ea typeface="Merriweather"/>
                <a:cs typeface="Merriweather"/>
                <a:sym typeface="Merriweather"/>
              </a:rPr>
              <a:t>Used Models</a:t>
            </a:r>
            <a:endParaRPr b="1" sz="3350">
              <a:solidFill>
                <a:schemeClr val="dk1"/>
              </a:solidFill>
              <a:latin typeface="Merriweather"/>
              <a:ea typeface="Merriweather"/>
              <a:cs typeface="Merriweather"/>
              <a:sym typeface="Merriweather"/>
            </a:endParaRPr>
          </a:p>
        </p:txBody>
      </p:sp>
      <p:sp>
        <p:nvSpPr>
          <p:cNvPr id="231" name="Google Shape;231;p33"/>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350">
                <a:solidFill>
                  <a:schemeClr val="dk1"/>
                </a:solidFill>
                <a:latin typeface="Merriweather"/>
                <a:ea typeface="Merriweather"/>
                <a:cs typeface="Merriweather"/>
                <a:sym typeface="Merriweather"/>
              </a:rPr>
              <a:t>Drawing a Conclusion</a:t>
            </a:r>
            <a:endParaRPr b="1" sz="3350">
              <a:solidFill>
                <a:schemeClr val="dk1"/>
              </a:solidFill>
              <a:latin typeface="Merriweather"/>
              <a:ea typeface="Merriweather"/>
              <a:cs typeface="Merriweather"/>
              <a:sym typeface="Merriweather"/>
            </a:endParaRPr>
          </a:p>
        </p:txBody>
      </p:sp>
      <p:sp>
        <p:nvSpPr>
          <p:cNvPr id="232" name="Google Shape;232;p33"/>
          <p:cNvSpPr txBox="1"/>
          <p:nvPr/>
        </p:nvSpPr>
        <p:spPr>
          <a:xfrm>
            <a:off x="196954" y="841877"/>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950">
                <a:solidFill>
                  <a:schemeClr val="dk1"/>
                </a:solidFill>
                <a:latin typeface="Merriweather"/>
                <a:ea typeface="Merriweather"/>
                <a:cs typeface="Merriweather"/>
                <a:sym typeface="Merriweather"/>
              </a:rPr>
              <a:t>1.</a:t>
            </a:r>
            <a:endParaRPr b="1" sz="1950">
              <a:solidFill>
                <a:schemeClr val="dk1"/>
              </a:solidFill>
              <a:latin typeface="Merriweather"/>
              <a:ea typeface="Merriweather"/>
              <a:cs typeface="Merriweather"/>
              <a:sym typeface="Merriweather"/>
            </a:endParaRPr>
          </a:p>
        </p:txBody>
      </p:sp>
      <p:sp>
        <p:nvSpPr>
          <p:cNvPr id="233" name="Google Shape;233;p33"/>
          <p:cNvSpPr txBox="1"/>
          <p:nvPr/>
        </p:nvSpPr>
        <p:spPr>
          <a:xfrm>
            <a:off x="181050" y="1610938"/>
            <a:ext cx="423600" cy="393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950">
                <a:solidFill>
                  <a:schemeClr val="dk1"/>
                </a:solidFill>
                <a:latin typeface="Merriweather"/>
                <a:ea typeface="Merriweather"/>
                <a:cs typeface="Merriweather"/>
                <a:sym typeface="Merriweather"/>
              </a:rPr>
              <a:t>2.</a:t>
            </a:r>
            <a:endParaRPr b="1" sz="1950">
              <a:solidFill>
                <a:schemeClr val="dk1"/>
              </a:solidFill>
              <a:latin typeface="Merriweather"/>
              <a:ea typeface="Merriweather"/>
              <a:cs typeface="Merriweather"/>
              <a:sym typeface="Merriweather"/>
            </a:endParaRPr>
          </a:p>
        </p:txBody>
      </p:sp>
      <p:sp>
        <p:nvSpPr>
          <p:cNvPr id="234" name="Google Shape;234;p33"/>
          <p:cNvSpPr txBox="1"/>
          <p:nvPr/>
        </p:nvSpPr>
        <p:spPr>
          <a:xfrm>
            <a:off x="196954" y="2472332"/>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950">
                <a:solidFill>
                  <a:schemeClr val="dk1"/>
                </a:solidFill>
                <a:latin typeface="Merriweather"/>
                <a:ea typeface="Merriweather"/>
                <a:cs typeface="Merriweather"/>
                <a:sym typeface="Merriweather"/>
              </a:rPr>
              <a:t>3.</a:t>
            </a:r>
            <a:endParaRPr b="1" sz="1950">
              <a:solidFill>
                <a:schemeClr val="dk1"/>
              </a:solidFill>
              <a:latin typeface="Merriweather"/>
              <a:ea typeface="Merriweather"/>
              <a:cs typeface="Merriweather"/>
              <a:sym typeface="Merriweather"/>
            </a:endParaRPr>
          </a:p>
        </p:txBody>
      </p:sp>
      <p:sp>
        <p:nvSpPr>
          <p:cNvPr id="235" name="Google Shape;235;p33"/>
          <p:cNvSpPr txBox="1"/>
          <p:nvPr/>
        </p:nvSpPr>
        <p:spPr>
          <a:xfrm>
            <a:off x="181050" y="4173274"/>
            <a:ext cx="423600" cy="393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950">
                <a:solidFill>
                  <a:schemeClr val="dk1"/>
                </a:solidFill>
                <a:latin typeface="Merriweather"/>
                <a:ea typeface="Merriweather"/>
                <a:cs typeface="Merriweather"/>
                <a:sym typeface="Merriweather"/>
              </a:rPr>
              <a:t>4</a:t>
            </a:r>
            <a:r>
              <a:rPr b="1" lang="en" sz="1950">
                <a:solidFill>
                  <a:schemeClr val="dk1"/>
                </a:solidFill>
                <a:latin typeface="Merriweather"/>
                <a:ea typeface="Merriweather"/>
                <a:cs typeface="Merriweather"/>
                <a:sym typeface="Merriweather"/>
              </a:rPr>
              <a:t>.</a:t>
            </a:r>
            <a:endParaRPr b="1" sz="1950">
              <a:solidFill>
                <a:schemeClr val="dk1"/>
              </a:solidFill>
              <a:latin typeface="Merriweather"/>
              <a:ea typeface="Merriweather"/>
              <a:cs typeface="Merriweather"/>
              <a:sym typeface="Merriweather"/>
            </a:endParaRPr>
          </a:p>
        </p:txBody>
      </p:sp>
      <p:sp>
        <p:nvSpPr>
          <p:cNvPr id="236" name="Google Shape;236;p33"/>
          <p:cNvSpPr txBox="1"/>
          <p:nvPr/>
        </p:nvSpPr>
        <p:spPr>
          <a:xfrm>
            <a:off x="448575" y="2978750"/>
            <a:ext cx="4309800" cy="10629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2"/>
              </a:buClr>
              <a:buSzPts val="1400"/>
              <a:buFont typeface="Merriweather"/>
              <a:buChar char="●"/>
            </a:pPr>
            <a:r>
              <a:rPr lang="en">
                <a:solidFill>
                  <a:schemeClr val="dk2"/>
                </a:solidFill>
                <a:latin typeface="Merriweather"/>
                <a:ea typeface="Merriweather"/>
                <a:cs typeface="Merriweather"/>
                <a:sym typeface="Merriweather"/>
              </a:rPr>
              <a:t>Simple Linear regression</a:t>
            </a:r>
            <a:endParaRPr>
              <a:solidFill>
                <a:schemeClr val="dk2"/>
              </a:solidFill>
              <a:latin typeface="Merriweather"/>
              <a:ea typeface="Merriweather"/>
              <a:cs typeface="Merriweather"/>
              <a:sym typeface="Merriweather"/>
            </a:endParaRPr>
          </a:p>
          <a:p>
            <a:pPr indent="-317500" lvl="0" marL="457200" rtl="0" algn="l">
              <a:lnSpc>
                <a:spcPct val="150000"/>
              </a:lnSpc>
              <a:spcBef>
                <a:spcPts val="0"/>
              </a:spcBef>
              <a:spcAft>
                <a:spcPts val="0"/>
              </a:spcAft>
              <a:buClr>
                <a:schemeClr val="dk2"/>
              </a:buClr>
              <a:buSzPts val="1400"/>
              <a:buFont typeface="Merriweather"/>
              <a:buChar char="●"/>
            </a:pPr>
            <a:r>
              <a:rPr lang="en">
                <a:solidFill>
                  <a:schemeClr val="dk2"/>
                </a:solidFill>
                <a:latin typeface="Merriweather"/>
                <a:ea typeface="Merriweather"/>
                <a:cs typeface="Merriweather"/>
                <a:sym typeface="Merriweather"/>
              </a:rPr>
              <a:t>Multiple Linear regression</a:t>
            </a:r>
            <a:endParaRPr>
              <a:solidFill>
                <a:schemeClr val="dk2"/>
              </a:solidFill>
              <a:latin typeface="Merriweather"/>
              <a:ea typeface="Merriweather"/>
              <a:cs typeface="Merriweather"/>
              <a:sym typeface="Merriweather"/>
            </a:endParaRPr>
          </a:p>
          <a:p>
            <a:pPr indent="-317500" lvl="0" marL="457200" rtl="0" algn="l">
              <a:lnSpc>
                <a:spcPct val="150000"/>
              </a:lnSpc>
              <a:spcBef>
                <a:spcPts val="0"/>
              </a:spcBef>
              <a:spcAft>
                <a:spcPts val="0"/>
              </a:spcAft>
              <a:buClr>
                <a:schemeClr val="dk2"/>
              </a:buClr>
              <a:buSzPts val="1400"/>
              <a:buFont typeface="Merriweather"/>
              <a:buChar char="●"/>
            </a:pPr>
            <a:r>
              <a:rPr lang="en">
                <a:solidFill>
                  <a:schemeClr val="dk2"/>
                </a:solidFill>
                <a:latin typeface="Merriweather"/>
                <a:ea typeface="Merriweather"/>
                <a:cs typeface="Merriweather"/>
                <a:sym typeface="Merriweather"/>
              </a:rPr>
              <a:t>Polynomial (Ridge) regression</a:t>
            </a:r>
            <a:endParaRPr>
              <a:solidFill>
                <a:schemeClr val="dk2"/>
              </a:solidFill>
              <a:latin typeface="Merriweather"/>
              <a:ea typeface="Merriweather"/>
              <a:cs typeface="Merriweather"/>
              <a:sym typeface="Merriweather"/>
            </a:endParaRPr>
          </a:p>
        </p:txBody>
      </p:sp>
      <p:sp>
        <p:nvSpPr>
          <p:cNvPr id="237" name="Google Shape;237;p3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900"/>
              <a:t>CSE 351 Presentation</a:t>
            </a:r>
            <a:endParaRPr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4"/>
          <p:cNvSpPr txBox="1"/>
          <p:nvPr>
            <p:ph idx="1" type="subTitle"/>
          </p:nvPr>
        </p:nvSpPr>
        <p:spPr>
          <a:xfrm>
            <a:off x="517350" y="1158300"/>
            <a:ext cx="7193400" cy="5619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450"/>
              <a:t>1. </a:t>
            </a:r>
            <a:r>
              <a:rPr lang="en" sz="2450"/>
              <a:t>Derive 4 insights from the raw data</a:t>
            </a:r>
            <a:endParaRPr sz="2450"/>
          </a:p>
        </p:txBody>
      </p:sp>
      <p:sp>
        <p:nvSpPr>
          <p:cNvPr id="244" name="Google Shape;244;p34"/>
          <p:cNvSpPr txBox="1"/>
          <p:nvPr>
            <p:ph idx="2" type="body"/>
          </p:nvPr>
        </p:nvSpPr>
        <p:spPr>
          <a:xfrm>
            <a:off x="517343" y="502043"/>
            <a:ext cx="2341800" cy="489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hlink"/>
              </a:buClr>
              <a:buSzPts val="1100"/>
              <a:buFont typeface="Arial"/>
              <a:buNone/>
            </a:pPr>
            <a:r>
              <a:rPr b="1" lang="en" sz="3250">
                <a:latin typeface="Merriweather"/>
                <a:ea typeface="Merriweather"/>
                <a:cs typeface="Merriweather"/>
                <a:sym typeface="Merriweather"/>
              </a:rPr>
              <a:t>Our Goal</a:t>
            </a:r>
            <a:endParaRPr sz="2600"/>
          </a:p>
        </p:txBody>
      </p:sp>
      <p:sp>
        <p:nvSpPr>
          <p:cNvPr id="245" name="Google Shape;245;p34"/>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900"/>
              <a:t>CSE 351 Presentation</a:t>
            </a:r>
            <a:endParaRPr sz="900"/>
          </a:p>
        </p:txBody>
      </p:sp>
      <p:sp>
        <p:nvSpPr>
          <p:cNvPr id="246" name="Google Shape;246;p34"/>
          <p:cNvSpPr txBox="1"/>
          <p:nvPr/>
        </p:nvSpPr>
        <p:spPr>
          <a:xfrm>
            <a:off x="505600" y="1720209"/>
            <a:ext cx="7193400" cy="14547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Merriweather"/>
              <a:buChar char="●"/>
            </a:pPr>
            <a:r>
              <a:rPr lang="en" sz="1500">
                <a:solidFill>
                  <a:schemeClr val="dk2"/>
                </a:solidFill>
                <a:latin typeface="Merriweather"/>
                <a:ea typeface="Merriweather"/>
                <a:cs typeface="Merriweather"/>
                <a:sym typeface="Merriweather"/>
              </a:rPr>
              <a:t>Patterns observed from </a:t>
            </a:r>
            <a:r>
              <a:rPr lang="en" sz="1500">
                <a:solidFill>
                  <a:schemeClr val="dk2"/>
                </a:solidFill>
                <a:latin typeface="Merriweather"/>
                <a:ea typeface="Merriweather"/>
                <a:cs typeface="Merriweather"/>
                <a:sym typeface="Merriweather"/>
              </a:rPr>
              <a:t>movie release dates</a:t>
            </a:r>
            <a:endParaRPr sz="1500">
              <a:solidFill>
                <a:schemeClr val="dk2"/>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dk2"/>
              </a:buClr>
              <a:buSzPts val="1500"/>
              <a:buFont typeface="Merriweather"/>
              <a:buChar char="●"/>
            </a:pPr>
            <a:r>
              <a:rPr lang="en" sz="1500">
                <a:solidFill>
                  <a:schemeClr val="dk2"/>
                </a:solidFill>
                <a:latin typeface="Merriweather"/>
                <a:ea typeface="Merriweather"/>
                <a:cs typeface="Merriweather"/>
                <a:sym typeface="Merriweather"/>
              </a:rPr>
              <a:t>M</a:t>
            </a:r>
            <a:r>
              <a:rPr lang="en" sz="1500">
                <a:solidFill>
                  <a:schemeClr val="dk2"/>
                </a:solidFill>
                <a:latin typeface="Merriweather"/>
                <a:ea typeface="Merriweather"/>
                <a:cs typeface="Merriweather"/>
                <a:sym typeface="Merriweather"/>
              </a:rPr>
              <a:t>ovie genre trend shifting patterns</a:t>
            </a:r>
            <a:endParaRPr sz="1500">
              <a:solidFill>
                <a:schemeClr val="dk2"/>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dk2"/>
              </a:buClr>
              <a:buSzPts val="1500"/>
              <a:buFont typeface="Merriweather"/>
              <a:buChar char="●"/>
            </a:pPr>
            <a:r>
              <a:rPr lang="en" sz="1500">
                <a:solidFill>
                  <a:schemeClr val="dk2"/>
                </a:solidFill>
                <a:latin typeface="Merriweather"/>
                <a:ea typeface="Merriweather"/>
                <a:cs typeface="Merriweather"/>
                <a:sym typeface="Merriweather"/>
              </a:rPr>
              <a:t>S</a:t>
            </a:r>
            <a:r>
              <a:rPr lang="en" sz="1500">
                <a:solidFill>
                  <a:schemeClr val="dk2"/>
                </a:solidFill>
                <a:latin typeface="Merriweather"/>
                <a:ea typeface="Merriweather"/>
                <a:cs typeface="Merriweather"/>
                <a:sym typeface="Merriweather"/>
              </a:rPr>
              <a:t>trongest and weakest features correlated with movie revenue</a:t>
            </a:r>
            <a:endParaRPr sz="1500">
              <a:solidFill>
                <a:schemeClr val="dk2"/>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dk2"/>
              </a:buClr>
              <a:buSzPts val="1500"/>
              <a:buFont typeface="Merriweather"/>
              <a:buChar char="●"/>
            </a:pPr>
            <a:r>
              <a:rPr lang="en" sz="1500">
                <a:solidFill>
                  <a:schemeClr val="dk2"/>
                </a:solidFill>
                <a:latin typeface="Merriweather"/>
                <a:ea typeface="Merriweather"/>
                <a:cs typeface="Merriweather"/>
                <a:sym typeface="Merriweather"/>
              </a:rPr>
              <a:t>Revenue of movies relative to their budget</a:t>
            </a:r>
            <a:endParaRPr sz="1500">
              <a:solidFill>
                <a:schemeClr val="dk2"/>
              </a:solidFill>
              <a:latin typeface="Merriweather"/>
              <a:ea typeface="Merriweather"/>
              <a:cs typeface="Merriweather"/>
              <a:sym typeface="Merriweather"/>
            </a:endParaRPr>
          </a:p>
        </p:txBody>
      </p:sp>
      <p:sp>
        <p:nvSpPr>
          <p:cNvPr id="247" name="Google Shape;247;p34"/>
          <p:cNvSpPr txBox="1"/>
          <p:nvPr/>
        </p:nvSpPr>
        <p:spPr>
          <a:xfrm>
            <a:off x="505600" y="3233637"/>
            <a:ext cx="66249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sz="2450">
                <a:solidFill>
                  <a:schemeClr val="dk1"/>
                </a:solidFill>
                <a:latin typeface="Merriweather"/>
                <a:ea typeface="Merriweather"/>
                <a:cs typeface="Merriweather"/>
                <a:sym typeface="Merriweather"/>
              </a:rPr>
              <a:t>2. </a:t>
            </a:r>
            <a:r>
              <a:rPr lang="en" sz="2450">
                <a:solidFill>
                  <a:schemeClr val="dk1"/>
                </a:solidFill>
                <a:latin typeface="Merriweather"/>
                <a:ea typeface="Merriweather"/>
                <a:cs typeface="Merriweather"/>
                <a:sym typeface="Merriweather"/>
              </a:rPr>
              <a:t>Predict the revenue of 2010’s movies</a:t>
            </a:r>
            <a:endParaRPr sz="800">
              <a:solidFill>
                <a:schemeClr val="dk2"/>
              </a:solidFill>
              <a:latin typeface="DM Sans"/>
              <a:ea typeface="DM Sans"/>
              <a:cs typeface="DM Sans"/>
              <a:sym typeface="DM Sans"/>
            </a:endParaRPr>
          </a:p>
        </p:txBody>
      </p:sp>
      <p:sp>
        <p:nvSpPr>
          <p:cNvPr id="248" name="Google Shape;248;p34"/>
          <p:cNvSpPr txBox="1"/>
          <p:nvPr/>
        </p:nvSpPr>
        <p:spPr>
          <a:xfrm>
            <a:off x="505600" y="3724029"/>
            <a:ext cx="7193400" cy="766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Merriweather"/>
              <a:buChar char="●"/>
            </a:pPr>
            <a:r>
              <a:rPr lang="en" sz="1500">
                <a:solidFill>
                  <a:schemeClr val="dk2"/>
                </a:solidFill>
                <a:latin typeface="Merriweather"/>
                <a:ea typeface="Merriweather"/>
                <a:cs typeface="Merriweather"/>
                <a:sym typeface="Merriweather"/>
              </a:rPr>
              <a:t>70% training set &amp; 30% testing set</a:t>
            </a:r>
            <a:endParaRPr sz="1500">
              <a:solidFill>
                <a:schemeClr val="dk2"/>
              </a:solidFill>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537929" y="486175"/>
            <a:ext cx="3386700" cy="64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50"/>
              <a:t>Preprocessing</a:t>
            </a:r>
            <a:endParaRPr sz="3250"/>
          </a:p>
        </p:txBody>
      </p:sp>
      <p:sp>
        <p:nvSpPr>
          <p:cNvPr id="254" name="Google Shape;254;p35"/>
          <p:cNvSpPr txBox="1"/>
          <p:nvPr>
            <p:ph idx="1" type="body"/>
          </p:nvPr>
        </p:nvSpPr>
        <p:spPr>
          <a:xfrm>
            <a:off x="537925" y="1276600"/>
            <a:ext cx="8224800" cy="3386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900">
                <a:latin typeface="Merriweather"/>
                <a:ea typeface="Merriweather"/>
                <a:cs typeface="Merriweather"/>
                <a:sym typeface="Merriweather"/>
              </a:rPr>
              <a:t>1. Eliminated </a:t>
            </a:r>
            <a:r>
              <a:rPr b="1" lang="en" sz="1900">
                <a:latin typeface="Merriweather"/>
                <a:ea typeface="Merriweather"/>
                <a:cs typeface="Merriweather"/>
                <a:sym typeface="Merriweather"/>
              </a:rPr>
              <a:t>null, NaN</a:t>
            </a:r>
            <a:r>
              <a:rPr lang="en" sz="1900">
                <a:latin typeface="Merriweather"/>
                <a:ea typeface="Merriweather"/>
                <a:cs typeface="Merriweather"/>
                <a:sym typeface="Merriweather"/>
              </a:rPr>
              <a:t> from all columns</a:t>
            </a:r>
            <a:endParaRPr sz="1900">
              <a:latin typeface="Merriweather"/>
              <a:ea typeface="Merriweather"/>
              <a:cs typeface="Merriweather"/>
              <a:sym typeface="Merriweather"/>
            </a:endParaRPr>
          </a:p>
          <a:p>
            <a:pPr indent="0" lvl="0" marL="0" rtl="0" algn="l">
              <a:lnSpc>
                <a:spcPct val="115000"/>
              </a:lnSpc>
              <a:spcBef>
                <a:spcPts val="1200"/>
              </a:spcBef>
              <a:spcAft>
                <a:spcPts val="0"/>
              </a:spcAft>
              <a:buNone/>
            </a:pPr>
            <a:r>
              <a:rPr lang="en" sz="1900">
                <a:latin typeface="Merriweather"/>
                <a:ea typeface="Merriweather"/>
                <a:cs typeface="Merriweather"/>
                <a:sym typeface="Merriweather"/>
              </a:rPr>
              <a:t>2. Dropped all </a:t>
            </a:r>
            <a:r>
              <a:rPr b="1" lang="en" sz="1900">
                <a:latin typeface="Merriweather"/>
                <a:ea typeface="Merriweather"/>
                <a:cs typeface="Merriweather"/>
                <a:sym typeface="Merriweather"/>
              </a:rPr>
              <a:t>zero</a:t>
            </a:r>
            <a:r>
              <a:rPr lang="en" sz="1900">
                <a:latin typeface="Merriweather"/>
                <a:ea typeface="Merriweather"/>
                <a:cs typeface="Merriweather"/>
                <a:sym typeface="Merriweather"/>
              </a:rPr>
              <a:t> values:</a:t>
            </a:r>
            <a:endParaRPr sz="1900">
              <a:latin typeface="Merriweather"/>
              <a:ea typeface="Merriweather"/>
              <a:cs typeface="Merriweather"/>
              <a:sym typeface="Merriweather"/>
            </a:endParaRPr>
          </a:p>
          <a:p>
            <a:pPr indent="-330200" lvl="0" marL="457200" rtl="0" algn="l">
              <a:lnSpc>
                <a:spcPct val="115000"/>
              </a:lnSpc>
              <a:spcBef>
                <a:spcPts val="1200"/>
              </a:spcBef>
              <a:spcAft>
                <a:spcPts val="0"/>
              </a:spcAft>
              <a:buClr>
                <a:schemeClr val="dk2"/>
              </a:buClr>
              <a:buSzPts val="1600"/>
              <a:buFont typeface="Merriweather"/>
              <a:buChar char="●"/>
            </a:pPr>
            <a:r>
              <a:rPr lang="en" sz="1600">
                <a:solidFill>
                  <a:schemeClr val="dk2"/>
                </a:solidFill>
                <a:latin typeface="Merriweather"/>
                <a:ea typeface="Merriweather"/>
                <a:cs typeface="Merriweather"/>
                <a:sym typeface="Merriweather"/>
              </a:rPr>
              <a:t>budget, popularity, revenue, runtime, vote_count</a:t>
            </a:r>
            <a:endParaRPr sz="1600">
              <a:solidFill>
                <a:schemeClr val="dk2"/>
              </a:solidFill>
              <a:latin typeface="Merriweather"/>
              <a:ea typeface="Merriweather"/>
              <a:cs typeface="Merriweather"/>
              <a:sym typeface="Merriweather"/>
            </a:endParaRPr>
          </a:p>
          <a:p>
            <a:pPr indent="0" lvl="0" marL="0" rtl="0" algn="l">
              <a:lnSpc>
                <a:spcPct val="115000"/>
              </a:lnSpc>
              <a:spcBef>
                <a:spcPts val="1200"/>
              </a:spcBef>
              <a:spcAft>
                <a:spcPts val="0"/>
              </a:spcAft>
              <a:buNone/>
            </a:pPr>
            <a:r>
              <a:rPr lang="en" sz="1900">
                <a:latin typeface="Merriweather"/>
                <a:ea typeface="Merriweather"/>
                <a:cs typeface="Merriweather"/>
                <a:sym typeface="Merriweather"/>
              </a:rPr>
              <a:t>3. Dropped </a:t>
            </a:r>
            <a:r>
              <a:rPr b="1" lang="en" sz="1900">
                <a:latin typeface="Merriweather"/>
                <a:ea typeface="Merriweather"/>
                <a:cs typeface="Merriweather"/>
                <a:sym typeface="Merriweather"/>
              </a:rPr>
              <a:t>out of range</a:t>
            </a:r>
            <a:r>
              <a:rPr lang="en" sz="1900">
                <a:latin typeface="Merriweather"/>
                <a:ea typeface="Merriweather"/>
                <a:cs typeface="Merriweather"/>
                <a:sym typeface="Merriweather"/>
              </a:rPr>
              <a:t> values in terms of voting rate:</a:t>
            </a:r>
            <a:endParaRPr sz="1900">
              <a:latin typeface="Merriweather"/>
              <a:ea typeface="Merriweather"/>
              <a:cs typeface="Merriweather"/>
              <a:sym typeface="Merriweather"/>
            </a:endParaRPr>
          </a:p>
          <a:p>
            <a:pPr indent="-330200" lvl="0" marL="457200" rtl="0" algn="l">
              <a:lnSpc>
                <a:spcPct val="115000"/>
              </a:lnSpc>
              <a:spcBef>
                <a:spcPts val="1200"/>
              </a:spcBef>
              <a:spcAft>
                <a:spcPts val="0"/>
              </a:spcAft>
              <a:buClr>
                <a:schemeClr val="dk2"/>
              </a:buClr>
              <a:buSzPts val="1600"/>
              <a:buFont typeface="Merriweather"/>
              <a:buChar char="●"/>
            </a:pPr>
            <a:r>
              <a:rPr lang="en" sz="1600">
                <a:solidFill>
                  <a:schemeClr val="dk2"/>
                </a:solidFill>
                <a:latin typeface="Merriweather"/>
                <a:ea typeface="Merriweather"/>
                <a:cs typeface="Merriweather"/>
                <a:sym typeface="Merriweather"/>
              </a:rPr>
              <a:t>vote_average</a:t>
            </a:r>
            <a:endParaRPr sz="1600">
              <a:solidFill>
                <a:schemeClr val="dk2"/>
              </a:solidFill>
              <a:latin typeface="Merriweather"/>
              <a:ea typeface="Merriweather"/>
              <a:cs typeface="Merriweather"/>
              <a:sym typeface="Merriweather"/>
            </a:endParaRPr>
          </a:p>
          <a:p>
            <a:pPr indent="0" lvl="0" marL="0" rtl="0" algn="l">
              <a:lnSpc>
                <a:spcPct val="115000"/>
              </a:lnSpc>
              <a:spcBef>
                <a:spcPts val="1200"/>
              </a:spcBef>
              <a:spcAft>
                <a:spcPts val="0"/>
              </a:spcAft>
              <a:buNone/>
            </a:pPr>
            <a:r>
              <a:rPr lang="en" sz="1900">
                <a:latin typeface="Merriweather"/>
                <a:ea typeface="Merriweather"/>
                <a:cs typeface="Merriweather"/>
                <a:sym typeface="Merriweather"/>
              </a:rPr>
              <a:t>4. Extracted text data from particular format (Series, Dict) columns:</a:t>
            </a:r>
            <a:endParaRPr sz="1900">
              <a:latin typeface="Merriweather"/>
              <a:ea typeface="Merriweather"/>
              <a:cs typeface="Merriweather"/>
              <a:sym typeface="Merriweather"/>
            </a:endParaRPr>
          </a:p>
          <a:p>
            <a:pPr indent="-330200" lvl="0" marL="457200" rtl="0" algn="l">
              <a:lnSpc>
                <a:spcPct val="150000"/>
              </a:lnSpc>
              <a:spcBef>
                <a:spcPts val="1200"/>
              </a:spcBef>
              <a:spcAft>
                <a:spcPts val="0"/>
              </a:spcAft>
              <a:buClr>
                <a:schemeClr val="dk2"/>
              </a:buClr>
              <a:buSzPts val="1600"/>
              <a:buFont typeface="Merriweather"/>
              <a:buChar char="●"/>
            </a:pPr>
            <a:r>
              <a:rPr lang="en" sz="1600">
                <a:solidFill>
                  <a:schemeClr val="dk2"/>
                </a:solidFill>
                <a:latin typeface="Merriweather"/>
                <a:ea typeface="Merriweather"/>
                <a:cs typeface="Merriweather"/>
                <a:sym typeface="Merriweather"/>
              </a:rPr>
              <a:t>production _countries, production_companies, genres</a:t>
            </a:r>
            <a:endParaRPr sz="1600">
              <a:solidFill>
                <a:schemeClr val="dk2"/>
              </a:solidFill>
              <a:latin typeface="Merriweather"/>
              <a:ea typeface="Merriweather"/>
              <a:cs typeface="Merriweather"/>
              <a:sym typeface="Merriweather"/>
            </a:endParaRPr>
          </a:p>
        </p:txBody>
      </p:sp>
      <p:sp>
        <p:nvSpPr>
          <p:cNvPr id="255" name="Google Shape;255;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900"/>
              <a:t>CSE 351 Presentation</a:t>
            </a:r>
            <a:endParaRPr sz="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2" name="Google Shape;262;p36"/>
          <p:cNvSpPr txBox="1"/>
          <p:nvPr>
            <p:ph idx="1" type="subTitle"/>
          </p:nvPr>
        </p:nvSpPr>
        <p:spPr>
          <a:xfrm>
            <a:off x="610550" y="1157325"/>
            <a:ext cx="7198500" cy="5001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050"/>
              <a:t>1. Patterns observed from movie releases by day of week</a:t>
            </a:r>
            <a:endParaRPr sz="2050"/>
          </a:p>
        </p:txBody>
      </p:sp>
      <p:sp>
        <p:nvSpPr>
          <p:cNvPr id="263" name="Google Shape;263;p36"/>
          <p:cNvSpPr txBox="1"/>
          <p:nvPr>
            <p:ph idx="2" type="body"/>
          </p:nvPr>
        </p:nvSpPr>
        <p:spPr>
          <a:xfrm>
            <a:off x="610550" y="405825"/>
            <a:ext cx="1212000" cy="7515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3200">
                <a:latin typeface="Merriweather"/>
                <a:ea typeface="Merriweather"/>
                <a:cs typeface="Merriweather"/>
                <a:sym typeface="Merriweather"/>
              </a:rPr>
              <a:t>EDA</a:t>
            </a:r>
            <a:endParaRPr sz="3200">
              <a:latin typeface="Merriweather"/>
              <a:ea typeface="Merriweather"/>
              <a:cs typeface="Merriweather"/>
              <a:sym typeface="Merriweather"/>
            </a:endParaRPr>
          </a:p>
        </p:txBody>
      </p:sp>
      <p:sp>
        <p:nvSpPr>
          <p:cNvPr id="264" name="Google Shape;264;p3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pic>
        <p:nvPicPr>
          <p:cNvPr id="265" name="Google Shape;265;p36"/>
          <p:cNvPicPr preferRelativeResize="0"/>
          <p:nvPr/>
        </p:nvPicPr>
        <p:blipFill>
          <a:blip r:embed="rId3">
            <a:alphaModFix/>
          </a:blip>
          <a:stretch>
            <a:fillRect/>
          </a:stretch>
        </p:blipFill>
        <p:spPr>
          <a:xfrm>
            <a:off x="5350788" y="2966300"/>
            <a:ext cx="3670238" cy="1846100"/>
          </a:xfrm>
          <a:prstGeom prst="rect">
            <a:avLst/>
          </a:prstGeom>
          <a:noFill/>
          <a:ln cap="flat" cmpd="sng" w="9525">
            <a:solidFill>
              <a:schemeClr val="dk2"/>
            </a:solidFill>
            <a:prstDash val="solid"/>
            <a:round/>
            <a:headEnd len="sm" w="sm" type="none"/>
            <a:tailEnd len="sm" w="sm" type="none"/>
          </a:ln>
        </p:spPr>
      </p:pic>
      <p:sp>
        <p:nvSpPr>
          <p:cNvPr id="266" name="Google Shape;266;p36"/>
          <p:cNvSpPr txBox="1"/>
          <p:nvPr/>
        </p:nvSpPr>
        <p:spPr>
          <a:xfrm>
            <a:off x="536100" y="1917750"/>
            <a:ext cx="4598100" cy="23262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Movies tend to be released more frequently as the week approaches </a:t>
            </a:r>
            <a:r>
              <a:rPr b="1" lang="en" sz="1500">
                <a:solidFill>
                  <a:schemeClr val="lt1"/>
                </a:solidFill>
                <a:latin typeface="Merriweather"/>
                <a:ea typeface="Merriweather"/>
                <a:cs typeface="Merriweather"/>
                <a:sym typeface="Merriweather"/>
              </a:rPr>
              <a:t>Friday.</a:t>
            </a:r>
            <a:br>
              <a:rPr b="1" lang="en" sz="1500">
                <a:solidFill>
                  <a:schemeClr val="lt1"/>
                </a:solidFill>
                <a:latin typeface="Merriweather"/>
                <a:ea typeface="Merriweather"/>
                <a:cs typeface="Merriweather"/>
                <a:sym typeface="Merriweather"/>
              </a:rPr>
            </a:br>
            <a:endParaRPr b="1"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Movies are released the most on Friday, </a:t>
            </a:r>
            <a:r>
              <a:rPr lang="en" sz="1500">
                <a:solidFill>
                  <a:schemeClr val="lt1"/>
                </a:solidFill>
                <a:latin typeface="Merriweather"/>
                <a:ea typeface="Merriweather"/>
                <a:cs typeface="Merriweather"/>
                <a:sym typeface="Merriweather"/>
              </a:rPr>
              <a:t>while</a:t>
            </a:r>
            <a:r>
              <a:rPr lang="en" sz="1500">
                <a:solidFill>
                  <a:schemeClr val="lt1"/>
                </a:solidFill>
                <a:latin typeface="Merriweather"/>
                <a:ea typeface="Merriweather"/>
                <a:cs typeface="Merriweather"/>
                <a:sym typeface="Merriweather"/>
              </a:rPr>
              <a:t> the fewest movies are released on the weekend.</a:t>
            </a:r>
            <a:endParaRPr sz="1500">
              <a:solidFill>
                <a:schemeClr val="lt1"/>
              </a:solidFill>
              <a:latin typeface="Merriweather"/>
              <a:ea typeface="Merriweather"/>
              <a:cs typeface="Merriweather"/>
              <a:sym typeface="Merriweather"/>
            </a:endParaRPr>
          </a:p>
        </p:txBody>
      </p:sp>
      <p:pic>
        <p:nvPicPr>
          <p:cNvPr id="267" name="Google Shape;267;p36"/>
          <p:cNvPicPr preferRelativeResize="0"/>
          <p:nvPr/>
        </p:nvPicPr>
        <p:blipFill>
          <a:blip r:embed="rId4">
            <a:alphaModFix/>
          </a:blip>
          <a:stretch>
            <a:fillRect/>
          </a:stretch>
        </p:blipFill>
        <p:spPr>
          <a:xfrm>
            <a:off x="7809035" y="1018498"/>
            <a:ext cx="1212000" cy="184611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37"/>
          <p:cNvSpPr txBox="1"/>
          <p:nvPr>
            <p:ph idx="1" type="subTitle"/>
          </p:nvPr>
        </p:nvSpPr>
        <p:spPr>
          <a:xfrm>
            <a:off x="610550" y="1157325"/>
            <a:ext cx="6261600" cy="969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2050"/>
              <a:t>1. Patterns observed from movie releases </a:t>
            </a:r>
            <a:endParaRPr sz="2050"/>
          </a:p>
          <a:p>
            <a:pPr indent="0" lvl="0" marL="0" rtl="0" algn="l">
              <a:spcBef>
                <a:spcPts val="1200"/>
              </a:spcBef>
              <a:spcAft>
                <a:spcPts val="1200"/>
              </a:spcAft>
              <a:buNone/>
            </a:pPr>
            <a:r>
              <a:rPr lang="en" sz="2050"/>
              <a:t>    by month.</a:t>
            </a:r>
            <a:endParaRPr sz="2050"/>
          </a:p>
        </p:txBody>
      </p:sp>
      <p:sp>
        <p:nvSpPr>
          <p:cNvPr id="274" name="Google Shape;274;p37"/>
          <p:cNvSpPr txBox="1"/>
          <p:nvPr>
            <p:ph idx="2" type="body"/>
          </p:nvPr>
        </p:nvSpPr>
        <p:spPr>
          <a:xfrm>
            <a:off x="610550" y="405825"/>
            <a:ext cx="1212000" cy="7515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3200">
                <a:latin typeface="Merriweather"/>
                <a:ea typeface="Merriweather"/>
                <a:cs typeface="Merriweather"/>
                <a:sym typeface="Merriweather"/>
              </a:rPr>
              <a:t>EDA</a:t>
            </a:r>
            <a:endParaRPr sz="3200">
              <a:latin typeface="Merriweather"/>
              <a:ea typeface="Merriweather"/>
              <a:cs typeface="Merriweather"/>
              <a:sym typeface="Merriweather"/>
            </a:endParaRPr>
          </a:p>
        </p:txBody>
      </p:sp>
      <p:sp>
        <p:nvSpPr>
          <p:cNvPr id="275" name="Google Shape;27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276" name="Google Shape;276;p37"/>
          <p:cNvSpPr txBox="1"/>
          <p:nvPr/>
        </p:nvSpPr>
        <p:spPr>
          <a:xfrm>
            <a:off x="453900" y="2126925"/>
            <a:ext cx="4856400" cy="23262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Movies are released the most on </a:t>
            </a:r>
            <a:r>
              <a:rPr lang="en" sz="1500">
                <a:solidFill>
                  <a:schemeClr val="lt1"/>
                </a:solidFill>
                <a:latin typeface="Merriweather"/>
                <a:ea typeface="Merriweather"/>
                <a:cs typeface="Merriweather"/>
                <a:sym typeface="Merriweather"/>
              </a:rPr>
              <a:t>September</a:t>
            </a:r>
            <a:r>
              <a:rPr lang="en" sz="1500">
                <a:solidFill>
                  <a:schemeClr val="lt1"/>
                </a:solidFill>
                <a:latin typeface="Merriweather"/>
                <a:ea typeface="Merriweather"/>
                <a:cs typeface="Merriweather"/>
                <a:sym typeface="Merriweather"/>
              </a:rPr>
              <a:t>, and the fewest movies are released on November.</a:t>
            </a:r>
            <a:endParaRPr sz="1500">
              <a:solidFill>
                <a:schemeClr val="lt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Movies tend to be released more frequently as the year moves toward its end.</a:t>
            </a:r>
            <a:endParaRPr sz="1500">
              <a:solidFill>
                <a:schemeClr val="lt1"/>
              </a:solidFill>
              <a:latin typeface="Merriweather"/>
              <a:ea typeface="Merriweather"/>
              <a:cs typeface="Merriweather"/>
              <a:sym typeface="Merriweather"/>
            </a:endParaRPr>
          </a:p>
        </p:txBody>
      </p:sp>
      <p:pic>
        <p:nvPicPr>
          <p:cNvPr id="277" name="Google Shape;277;p37"/>
          <p:cNvPicPr preferRelativeResize="0"/>
          <p:nvPr/>
        </p:nvPicPr>
        <p:blipFill>
          <a:blip r:embed="rId3">
            <a:alphaModFix/>
          </a:blip>
          <a:stretch>
            <a:fillRect/>
          </a:stretch>
        </p:blipFill>
        <p:spPr>
          <a:xfrm>
            <a:off x="5424189" y="3012434"/>
            <a:ext cx="3522426" cy="1775525"/>
          </a:xfrm>
          <a:prstGeom prst="rect">
            <a:avLst/>
          </a:prstGeom>
          <a:noFill/>
          <a:ln cap="flat" cmpd="sng" w="9525">
            <a:solidFill>
              <a:schemeClr val="dk2"/>
            </a:solidFill>
            <a:prstDash val="solid"/>
            <a:round/>
            <a:headEnd len="sm" w="sm" type="none"/>
            <a:tailEnd len="sm" w="sm" type="none"/>
          </a:ln>
        </p:spPr>
      </p:pic>
      <p:pic>
        <p:nvPicPr>
          <p:cNvPr id="278" name="Google Shape;278;p37"/>
          <p:cNvPicPr preferRelativeResize="0"/>
          <p:nvPr/>
        </p:nvPicPr>
        <p:blipFill>
          <a:blip r:embed="rId4">
            <a:alphaModFix/>
          </a:blip>
          <a:stretch>
            <a:fillRect/>
          </a:stretch>
        </p:blipFill>
        <p:spPr>
          <a:xfrm>
            <a:off x="6801700" y="1409100"/>
            <a:ext cx="1044559" cy="1570475"/>
          </a:xfrm>
          <a:prstGeom prst="rect">
            <a:avLst/>
          </a:prstGeom>
          <a:noFill/>
          <a:ln cap="flat" cmpd="sng" w="9525">
            <a:solidFill>
              <a:schemeClr val="dk2"/>
            </a:solidFill>
            <a:prstDash val="solid"/>
            <a:round/>
            <a:headEnd len="sm" w="sm" type="none"/>
            <a:tailEnd len="sm" w="sm" type="none"/>
          </a:ln>
        </p:spPr>
      </p:pic>
      <p:pic>
        <p:nvPicPr>
          <p:cNvPr id="279" name="Google Shape;279;p37"/>
          <p:cNvPicPr preferRelativeResize="0"/>
          <p:nvPr/>
        </p:nvPicPr>
        <p:blipFill>
          <a:blip r:embed="rId5">
            <a:alphaModFix/>
          </a:blip>
          <a:stretch>
            <a:fillRect/>
          </a:stretch>
        </p:blipFill>
        <p:spPr>
          <a:xfrm>
            <a:off x="7916700" y="1626082"/>
            <a:ext cx="1044550" cy="1353493"/>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38"/>
          <p:cNvSpPr txBox="1"/>
          <p:nvPr>
            <p:ph idx="1" type="subTitle"/>
          </p:nvPr>
        </p:nvSpPr>
        <p:spPr>
          <a:xfrm>
            <a:off x="610550" y="1157325"/>
            <a:ext cx="6261600" cy="969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2050"/>
              <a:t>1. Patterns observed from movie </a:t>
            </a:r>
            <a:r>
              <a:rPr lang="en" sz="2050"/>
              <a:t>releases</a:t>
            </a:r>
            <a:endParaRPr sz="2050"/>
          </a:p>
          <a:p>
            <a:pPr indent="0" lvl="0" marL="0" rtl="0" algn="l">
              <a:spcBef>
                <a:spcPts val="1200"/>
              </a:spcBef>
              <a:spcAft>
                <a:spcPts val="1200"/>
              </a:spcAft>
              <a:buNone/>
            </a:pPr>
            <a:r>
              <a:rPr lang="en" sz="2050"/>
              <a:t>    by year</a:t>
            </a:r>
            <a:endParaRPr sz="2050"/>
          </a:p>
        </p:txBody>
      </p:sp>
      <p:sp>
        <p:nvSpPr>
          <p:cNvPr id="286" name="Google Shape;286;p38"/>
          <p:cNvSpPr txBox="1"/>
          <p:nvPr>
            <p:ph idx="2" type="body"/>
          </p:nvPr>
        </p:nvSpPr>
        <p:spPr>
          <a:xfrm>
            <a:off x="610550" y="405825"/>
            <a:ext cx="1212000" cy="7515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3200">
                <a:latin typeface="Merriweather"/>
                <a:ea typeface="Merriweather"/>
                <a:cs typeface="Merriweather"/>
                <a:sym typeface="Merriweather"/>
              </a:rPr>
              <a:t>EDA</a:t>
            </a:r>
            <a:endParaRPr sz="3200">
              <a:latin typeface="Merriweather"/>
              <a:ea typeface="Merriweather"/>
              <a:cs typeface="Merriweather"/>
              <a:sym typeface="Merriweather"/>
            </a:endParaRPr>
          </a:p>
        </p:txBody>
      </p:sp>
      <p:sp>
        <p:nvSpPr>
          <p:cNvPr id="287" name="Google Shape;287;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pic>
        <p:nvPicPr>
          <p:cNvPr id="288" name="Google Shape;288;p38"/>
          <p:cNvPicPr preferRelativeResize="0"/>
          <p:nvPr/>
        </p:nvPicPr>
        <p:blipFill>
          <a:blip r:embed="rId3">
            <a:alphaModFix/>
          </a:blip>
          <a:stretch>
            <a:fillRect/>
          </a:stretch>
        </p:blipFill>
        <p:spPr>
          <a:xfrm>
            <a:off x="5421388" y="3006175"/>
            <a:ext cx="3485376" cy="1790457"/>
          </a:xfrm>
          <a:prstGeom prst="rect">
            <a:avLst/>
          </a:prstGeom>
          <a:noFill/>
          <a:ln>
            <a:noFill/>
          </a:ln>
        </p:spPr>
      </p:pic>
      <p:pic>
        <p:nvPicPr>
          <p:cNvPr id="289" name="Google Shape;289;p38"/>
          <p:cNvPicPr preferRelativeResize="0"/>
          <p:nvPr/>
        </p:nvPicPr>
        <p:blipFill>
          <a:blip r:embed="rId4">
            <a:alphaModFix/>
          </a:blip>
          <a:stretch>
            <a:fillRect/>
          </a:stretch>
        </p:blipFill>
        <p:spPr>
          <a:xfrm>
            <a:off x="6610700" y="1413875"/>
            <a:ext cx="1106738" cy="1475650"/>
          </a:xfrm>
          <a:prstGeom prst="rect">
            <a:avLst/>
          </a:prstGeom>
          <a:noFill/>
          <a:ln>
            <a:noFill/>
          </a:ln>
        </p:spPr>
      </p:pic>
      <p:pic>
        <p:nvPicPr>
          <p:cNvPr id="290" name="Google Shape;290;p38"/>
          <p:cNvPicPr preferRelativeResize="0"/>
          <p:nvPr/>
        </p:nvPicPr>
        <p:blipFill>
          <a:blip r:embed="rId5">
            <a:alphaModFix/>
          </a:blip>
          <a:stretch>
            <a:fillRect/>
          </a:stretch>
        </p:blipFill>
        <p:spPr>
          <a:xfrm>
            <a:off x="7831225" y="1413875"/>
            <a:ext cx="1054025" cy="1475650"/>
          </a:xfrm>
          <a:prstGeom prst="rect">
            <a:avLst/>
          </a:prstGeom>
          <a:noFill/>
          <a:ln>
            <a:noFill/>
          </a:ln>
        </p:spPr>
      </p:pic>
      <p:sp>
        <p:nvSpPr>
          <p:cNvPr id="291" name="Google Shape;291;p38"/>
          <p:cNvSpPr txBox="1"/>
          <p:nvPr/>
        </p:nvSpPr>
        <p:spPr>
          <a:xfrm>
            <a:off x="446500" y="2163225"/>
            <a:ext cx="5079600" cy="26334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As the time passes yearly, the movie market size increases </a:t>
            </a:r>
            <a:r>
              <a:rPr lang="en" sz="1500">
                <a:solidFill>
                  <a:schemeClr val="lt1"/>
                </a:solidFill>
                <a:latin typeface="Merriweather"/>
                <a:ea typeface="Merriweather"/>
                <a:cs typeface="Merriweather"/>
                <a:sym typeface="Merriweather"/>
              </a:rPr>
              <a:t>exponentially</a:t>
            </a:r>
            <a:r>
              <a:rPr lang="en" sz="1500">
                <a:solidFill>
                  <a:schemeClr val="lt1"/>
                </a:solidFill>
                <a:latin typeface="Merriweather"/>
                <a:ea typeface="Merriweather"/>
                <a:cs typeface="Merriweather"/>
                <a:sym typeface="Merriweather"/>
              </a:rPr>
              <a:t>.</a:t>
            </a:r>
            <a:br>
              <a:rPr lang="en" sz="1500">
                <a:solidFill>
                  <a:schemeClr val="lt1"/>
                </a:solidFill>
                <a:latin typeface="Merriweather"/>
                <a:ea typeface="Merriweather"/>
                <a:cs typeface="Merriweather"/>
                <a:sym typeface="Merriweather"/>
              </a:rPr>
            </a:b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The </a:t>
            </a:r>
            <a:r>
              <a:rPr lang="en" sz="1500">
                <a:solidFill>
                  <a:schemeClr val="lt1"/>
                </a:solidFill>
                <a:latin typeface="Merriweather"/>
                <a:ea typeface="Merriweather"/>
                <a:cs typeface="Merriweather"/>
                <a:sym typeface="Merriweather"/>
              </a:rPr>
              <a:t>latest</a:t>
            </a:r>
            <a:r>
              <a:rPr lang="en" sz="1500">
                <a:solidFill>
                  <a:schemeClr val="lt1"/>
                </a:solidFill>
                <a:latin typeface="Merriweather"/>
                <a:ea typeface="Merriweather"/>
                <a:cs typeface="Merriweather"/>
                <a:sym typeface="Merriweather"/>
              </a:rPr>
              <a:t> movie in the data was of 2017,  so the data in 2010s would be likely lower than the actual total number because the it does not include the full decade.</a:t>
            </a:r>
            <a:endParaRPr sz="1500">
              <a:solidFill>
                <a:schemeClr val="lt1"/>
              </a:solidFill>
              <a:latin typeface="Merriweather"/>
              <a:ea typeface="Merriweather"/>
              <a:cs typeface="Merriweather"/>
              <a:sym typeface="Merriweath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39"/>
          <p:cNvSpPr txBox="1"/>
          <p:nvPr>
            <p:ph idx="1" type="subTitle"/>
          </p:nvPr>
        </p:nvSpPr>
        <p:spPr>
          <a:xfrm>
            <a:off x="610550" y="1157325"/>
            <a:ext cx="6261600" cy="5001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050"/>
              <a:t>2.</a:t>
            </a:r>
            <a:r>
              <a:rPr lang="en" sz="2050"/>
              <a:t> </a:t>
            </a:r>
            <a:r>
              <a:rPr lang="en" sz="2050"/>
              <a:t>Movie genre trend shifting patterns</a:t>
            </a:r>
            <a:endParaRPr sz="2050"/>
          </a:p>
        </p:txBody>
      </p:sp>
      <p:sp>
        <p:nvSpPr>
          <p:cNvPr id="298" name="Google Shape;298;p39"/>
          <p:cNvSpPr txBox="1"/>
          <p:nvPr>
            <p:ph idx="2" type="body"/>
          </p:nvPr>
        </p:nvSpPr>
        <p:spPr>
          <a:xfrm>
            <a:off x="610550" y="405825"/>
            <a:ext cx="1212000" cy="7515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3200">
                <a:latin typeface="Merriweather"/>
                <a:ea typeface="Merriweather"/>
                <a:cs typeface="Merriweather"/>
                <a:sym typeface="Merriweather"/>
              </a:rPr>
              <a:t>EDA</a:t>
            </a:r>
            <a:endParaRPr sz="3200">
              <a:latin typeface="Merriweather"/>
              <a:ea typeface="Merriweather"/>
              <a:cs typeface="Merriweather"/>
              <a:sym typeface="Merriweather"/>
            </a:endParaRPr>
          </a:p>
        </p:txBody>
      </p:sp>
      <p:sp>
        <p:nvSpPr>
          <p:cNvPr id="299" name="Google Shape;299;p3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300" name="Google Shape;300;p39"/>
          <p:cNvSpPr txBox="1"/>
          <p:nvPr/>
        </p:nvSpPr>
        <p:spPr>
          <a:xfrm>
            <a:off x="453875" y="1776850"/>
            <a:ext cx="3870000" cy="29370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We ranked </a:t>
            </a:r>
            <a:r>
              <a:rPr b="1" lang="en" sz="1500">
                <a:solidFill>
                  <a:schemeClr val="lt1"/>
                </a:solidFill>
                <a:latin typeface="Merriweather"/>
                <a:ea typeface="Merriweather"/>
                <a:cs typeface="Merriweather"/>
                <a:sym typeface="Merriweather"/>
              </a:rPr>
              <a:t>top 3</a:t>
            </a:r>
            <a:r>
              <a:rPr lang="en" sz="1500">
                <a:solidFill>
                  <a:schemeClr val="lt1"/>
                </a:solidFill>
                <a:latin typeface="Merriweather"/>
                <a:ea typeface="Merriweather"/>
                <a:cs typeface="Merriweather"/>
                <a:sym typeface="Merriweather"/>
              </a:rPr>
              <a:t> genres from each decades.</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The movie market was the most active in</a:t>
            </a:r>
            <a:r>
              <a:rPr b="1" lang="en" sz="1500">
                <a:solidFill>
                  <a:schemeClr val="lt1"/>
                </a:solidFill>
                <a:latin typeface="Merriweather"/>
                <a:ea typeface="Merriweather"/>
                <a:cs typeface="Merriweather"/>
                <a:sym typeface="Merriweather"/>
              </a:rPr>
              <a:t> 2000's </a:t>
            </a:r>
            <a:r>
              <a:rPr lang="en" sz="1500">
                <a:solidFill>
                  <a:schemeClr val="lt1"/>
                </a:solidFill>
                <a:latin typeface="Merriweather"/>
                <a:ea typeface="Merriweather"/>
                <a:cs typeface="Merriweather"/>
                <a:sym typeface="Merriweather"/>
              </a:rPr>
              <a:t>than any other decades. </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b="1" lang="en" sz="1500">
                <a:solidFill>
                  <a:schemeClr val="lt1"/>
                </a:solidFill>
                <a:latin typeface="Merriweather"/>
                <a:ea typeface="Merriweather"/>
                <a:cs typeface="Merriweather"/>
                <a:sym typeface="Merriweather"/>
              </a:rPr>
              <a:t>Drama</a:t>
            </a:r>
            <a:r>
              <a:rPr lang="en" sz="1500">
                <a:solidFill>
                  <a:schemeClr val="lt1"/>
                </a:solidFill>
                <a:latin typeface="Merriweather"/>
                <a:ea typeface="Merriweather"/>
                <a:cs typeface="Merriweather"/>
                <a:sym typeface="Merriweather"/>
              </a:rPr>
              <a:t> was one of the most popular genres across all time periods.</a:t>
            </a:r>
            <a:endParaRPr sz="1500">
              <a:solidFill>
                <a:schemeClr val="lt1"/>
              </a:solidFill>
              <a:latin typeface="Merriweather"/>
              <a:ea typeface="Merriweather"/>
              <a:cs typeface="Merriweather"/>
              <a:sym typeface="Merriweather"/>
            </a:endParaRPr>
          </a:p>
        </p:txBody>
      </p:sp>
      <p:pic>
        <p:nvPicPr>
          <p:cNvPr id="301" name="Google Shape;301;p39"/>
          <p:cNvPicPr preferRelativeResize="0"/>
          <p:nvPr/>
        </p:nvPicPr>
        <p:blipFill>
          <a:blip r:embed="rId3">
            <a:alphaModFix/>
          </a:blip>
          <a:stretch>
            <a:fillRect/>
          </a:stretch>
        </p:blipFill>
        <p:spPr>
          <a:xfrm>
            <a:off x="4497475" y="1913645"/>
            <a:ext cx="4449149" cy="23699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0"/>
          <p:cNvSpPr txBox="1"/>
          <p:nvPr>
            <p:ph idx="1" type="subTitle"/>
          </p:nvPr>
        </p:nvSpPr>
        <p:spPr>
          <a:xfrm>
            <a:off x="610550" y="1157325"/>
            <a:ext cx="5392500" cy="5001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050"/>
              <a:t>3</a:t>
            </a:r>
            <a:r>
              <a:rPr lang="en" sz="2050"/>
              <a:t>. F</a:t>
            </a:r>
            <a:r>
              <a:rPr lang="en" sz="2050"/>
              <a:t>eatures correlated with revenue</a:t>
            </a:r>
            <a:endParaRPr sz="2050"/>
          </a:p>
        </p:txBody>
      </p:sp>
      <p:sp>
        <p:nvSpPr>
          <p:cNvPr id="308" name="Google Shape;308;p40"/>
          <p:cNvSpPr txBox="1"/>
          <p:nvPr>
            <p:ph idx="2" type="body"/>
          </p:nvPr>
        </p:nvSpPr>
        <p:spPr>
          <a:xfrm>
            <a:off x="610550" y="405825"/>
            <a:ext cx="1212000" cy="7515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3200">
                <a:latin typeface="Merriweather"/>
                <a:ea typeface="Merriweather"/>
                <a:cs typeface="Merriweather"/>
                <a:sym typeface="Merriweather"/>
              </a:rPr>
              <a:t>EDA</a:t>
            </a:r>
            <a:endParaRPr sz="3200">
              <a:latin typeface="Merriweather"/>
              <a:ea typeface="Merriweather"/>
              <a:cs typeface="Merriweather"/>
              <a:sym typeface="Merriweather"/>
            </a:endParaRPr>
          </a:p>
        </p:txBody>
      </p:sp>
      <p:sp>
        <p:nvSpPr>
          <p:cNvPr id="309" name="Google Shape;309;p40"/>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310" name="Google Shape;310;p40"/>
          <p:cNvSpPr txBox="1"/>
          <p:nvPr/>
        </p:nvSpPr>
        <p:spPr>
          <a:xfrm>
            <a:off x="465625" y="1657425"/>
            <a:ext cx="3870000" cy="3289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lt1"/>
                </a:solidFill>
                <a:latin typeface="Merriweather"/>
                <a:ea typeface="Merriweather"/>
                <a:cs typeface="Merriweather"/>
                <a:sym typeface="Merriweather"/>
              </a:rPr>
              <a:t>Strong correlations with revenue:</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vote_count</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budget</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m</a:t>
            </a:r>
            <a:r>
              <a:rPr lang="en" sz="1500">
                <a:solidFill>
                  <a:schemeClr val="lt1"/>
                </a:solidFill>
                <a:latin typeface="Merriweather"/>
                <a:ea typeface="Merriweather"/>
                <a:cs typeface="Merriweather"/>
                <a:sym typeface="Merriweather"/>
              </a:rPr>
              <a:t>ean revenue per prod. company</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popularity</a:t>
            </a:r>
            <a:br>
              <a:rPr lang="en" sz="1500">
                <a:solidFill>
                  <a:schemeClr val="lt1"/>
                </a:solidFill>
                <a:latin typeface="Merriweather"/>
                <a:ea typeface="Merriweather"/>
                <a:cs typeface="Merriweather"/>
                <a:sym typeface="Merriweather"/>
              </a:rPr>
            </a:br>
            <a:endParaRPr sz="1500">
              <a:solidFill>
                <a:schemeClr val="lt1"/>
              </a:solidFill>
              <a:latin typeface="Merriweather"/>
              <a:ea typeface="Merriweather"/>
              <a:cs typeface="Merriweather"/>
              <a:sym typeface="Merriweather"/>
            </a:endParaRPr>
          </a:p>
          <a:p>
            <a:pPr indent="0" lvl="0" marL="0" rtl="0" algn="l">
              <a:lnSpc>
                <a:spcPct val="150000"/>
              </a:lnSpc>
              <a:spcBef>
                <a:spcPts val="0"/>
              </a:spcBef>
              <a:spcAft>
                <a:spcPts val="0"/>
              </a:spcAft>
              <a:buNone/>
            </a:pPr>
            <a:r>
              <a:rPr lang="en" sz="1500">
                <a:solidFill>
                  <a:schemeClr val="lt1"/>
                </a:solidFill>
                <a:latin typeface="Merriweather"/>
                <a:ea typeface="Merriweather"/>
                <a:cs typeface="Merriweather"/>
                <a:sym typeface="Merriweather"/>
              </a:rPr>
              <a:t>Weak correlations with revenue:</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vote_average</a:t>
            </a:r>
            <a:endParaRPr sz="1500">
              <a:solidFill>
                <a:schemeClr val="lt1"/>
              </a:solidFill>
              <a:latin typeface="Merriweather"/>
              <a:ea typeface="Merriweather"/>
              <a:cs typeface="Merriweather"/>
              <a:sym typeface="Merriweather"/>
            </a:endParaRPr>
          </a:p>
          <a:p>
            <a:pPr indent="-323850" lvl="0" marL="457200" rtl="0" algn="l">
              <a:lnSpc>
                <a:spcPct val="150000"/>
              </a:lnSpc>
              <a:spcBef>
                <a:spcPts val="0"/>
              </a:spcBef>
              <a:spcAft>
                <a:spcPts val="0"/>
              </a:spcAft>
              <a:buClr>
                <a:schemeClr val="lt1"/>
              </a:buClr>
              <a:buSzPts val="1500"/>
              <a:buFont typeface="Merriweather"/>
              <a:buChar char="●"/>
            </a:pPr>
            <a:r>
              <a:rPr lang="en" sz="1500">
                <a:solidFill>
                  <a:schemeClr val="lt1"/>
                </a:solidFill>
                <a:latin typeface="Merriweather"/>
                <a:ea typeface="Merriweather"/>
                <a:cs typeface="Merriweather"/>
                <a:sym typeface="Merriweather"/>
              </a:rPr>
              <a:t>m</a:t>
            </a:r>
            <a:r>
              <a:rPr lang="en" sz="1500">
                <a:solidFill>
                  <a:schemeClr val="lt1"/>
                </a:solidFill>
                <a:latin typeface="Merriweather"/>
                <a:ea typeface="Merriweather"/>
                <a:cs typeface="Merriweather"/>
                <a:sym typeface="Merriweather"/>
              </a:rPr>
              <a:t>ean revenue per country</a:t>
            </a:r>
            <a:endParaRPr sz="1500">
              <a:solidFill>
                <a:schemeClr val="lt1"/>
              </a:solidFill>
              <a:latin typeface="Merriweather"/>
              <a:ea typeface="Merriweather"/>
              <a:cs typeface="Merriweather"/>
              <a:sym typeface="Merriweather"/>
            </a:endParaRPr>
          </a:p>
        </p:txBody>
      </p:sp>
      <p:pic>
        <p:nvPicPr>
          <p:cNvPr id="311" name="Google Shape;311;p40"/>
          <p:cNvPicPr preferRelativeResize="0"/>
          <p:nvPr/>
        </p:nvPicPr>
        <p:blipFill rotWithShape="1">
          <a:blip r:embed="rId3">
            <a:alphaModFix/>
          </a:blip>
          <a:srcRect b="0" l="2553" r="0" t="0"/>
          <a:stretch/>
        </p:blipFill>
        <p:spPr>
          <a:xfrm>
            <a:off x="5010125" y="1563110"/>
            <a:ext cx="3870000" cy="3364490"/>
          </a:xfrm>
          <a:prstGeom prst="rect">
            <a:avLst/>
          </a:prstGeom>
          <a:noFill/>
          <a:ln>
            <a:noFill/>
          </a:ln>
        </p:spPr>
      </p:pic>
      <p:sp>
        <p:nvSpPr>
          <p:cNvPr id="312" name="Google Shape;312;p40"/>
          <p:cNvSpPr/>
          <p:nvPr/>
        </p:nvSpPr>
        <p:spPr>
          <a:xfrm>
            <a:off x="5735060" y="1681019"/>
            <a:ext cx="2689200" cy="293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41"/>
          <p:cNvSpPr txBox="1"/>
          <p:nvPr>
            <p:ph idx="1" type="subTitle"/>
          </p:nvPr>
        </p:nvSpPr>
        <p:spPr>
          <a:xfrm>
            <a:off x="510066" y="1056841"/>
            <a:ext cx="6477000" cy="5001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050"/>
              <a:t>4</a:t>
            </a:r>
            <a:r>
              <a:rPr lang="en" sz="2050"/>
              <a:t>. All time ROI ranking (</a:t>
            </a:r>
            <a:r>
              <a:rPr lang="en" sz="2050"/>
              <a:t>Revenue / budget) </a:t>
            </a:r>
            <a:endParaRPr sz="2050"/>
          </a:p>
        </p:txBody>
      </p:sp>
      <p:sp>
        <p:nvSpPr>
          <p:cNvPr id="319" name="Google Shape;319;p41"/>
          <p:cNvSpPr txBox="1"/>
          <p:nvPr>
            <p:ph idx="2" type="body"/>
          </p:nvPr>
        </p:nvSpPr>
        <p:spPr>
          <a:xfrm>
            <a:off x="610550" y="405825"/>
            <a:ext cx="1212000" cy="7515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3200">
                <a:latin typeface="Merriweather"/>
                <a:ea typeface="Merriweather"/>
                <a:cs typeface="Merriweather"/>
                <a:sym typeface="Merriweather"/>
              </a:rPr>
              <a:t>EDA</a:t>
            </a:r>
            <a:endParaRPr sz="3200">
              <a:latin typeface="Merriweather"/>
              <a:ea typeface="Merriweather"/>
              <a:cs typeface="Merriweather"/>
              <a:sym typeface="Merriweather"/>
            </a:endParaRPr>
          </a:p>
        </p:txBody>
      </p:sp>
      <p:graphicFrame>
        <p:nvGraphicFramePr>
          <p:cNvPr id="320" name="Google Shape;320;p41"/>
          <p:cNvGraphicFramePr/>
          <p:nvPr/>
        </p:nvGraphicFramePr>
        <p:xfrm>
          <a:off x="610539" y="1638510"/>
          <a:ext cx="3000000" cy="3000000"/>
        </p:xfrm>
        <a:graphic>
          <a:graphicData uri="http://schemas.openxmlformats.org/drawingml/2006/table">
            <a:tbl>
              <a:tblPr>
                <a:noFill/>
                <a:tableStyleId>{496FB766-3736-4334-9442-F2F18CBD039A}</a:tableStyleId>
              </a:tblPr>
              <a:tblGrid>
                <a:gridCol w="1693375"/>
                <a:gridCol w="511475"/>
                <a:gridCol w="2214175"/>
                <a:gridCol w="1060800"/>
                <a:gridCol w="971050"/>
                <a:gridCol w="1241500"/>
              </a:tblGrid>
              <a:tr h="358475">
                <a:tc>
                  <a:txBody>
                    <a:bodyPr/>
                    <a:lstStyle/>
                    <a:p>
                      <a:pPr indent="0" lvl="0" marL="0" rtl="0" algn="ctr">
                        <a:spcBef>
                          <a:spcPts val="0"/>
                        </a:spcBef>
                        <a:spcAft>
                          <a:spcPts val="0"/>
                        </a:spcAft>
                        <a:buNone/>
                      </a:pPr>
                      <a:r>
                        <a:rPr lang="en" sz="1100">
                          <a:solidFill>
                            <a:schemeClr val="lt1"/>
                          </a:solidFill>
                          <a:latin typeface="Merriweather"/>
                          <a:ea typeface="Merriweather"/>
                          <a:cs typeface="Merriweather"/>
                          <a:sym typeface="Merriweather"/>
                        </a:rPr>
                        <a:t>title</a:t>
                      </a:r>
                      <a:endParaRPr sz="11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100">
                          <a:solidFill>
                            <a:schemeClr val="lt1"/>
                          </a:solidFill>
                          <a:latin typeface="Merriweather"/>
                          <a:ea typeface="Merriweather"/>
                          <a:cs typeface="Merriweather"/>
                          <a:sym typeface="Merriweather"/>
                        </a:rPr>
                        <a:t>year</a:t>
                      </a:r>
                      <a:endParaRPr sz="11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100">
                          <a:solidFill>
                            <a:schemeClr val="lt1"/>
                          </a:solidFill>
                          <a:latin typeface="Merriweather"/>
                          <a:ea typeface="Merriweather"/>
                          <a:cs typeface="Merriweather"/>
                          <a:sym typeface="Merriweather"/>
                        </a:rPr>
                        <a:t>genre</a:t>
                      </a:r>
                      <a:endParaRPr sz="11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100">
                          <a:solidFill>
                            <a:schemeClr val="lt1"/>
                          </a:solidFill>
                          <a:latin typeface="Merriweather"/>
                          <a:ea typeface="Merriweather"/>
                          <a:cs typeface="Merriweather"/>
                          <a:sym typeface="Merriweather"/>
                        </a:rPr>
                        <a:t>R</a:t>
                      </a:r>
                      <a:r>
                        <a:rPr lang="en" sz="1100">
                          <a:solidFill>
                            <a:schemeClr val="lt1"/>
                          </a:solidFill>
                          <a:latin typeface="Merriweather"/>
                          <a:ea typeface="Merriweather"/>
                          <a:cs typeface="Merriweather"/>
                          <a:sym typeface="Merriweather"/>
                        </a:rPr>
                        <a:t>evenue ($)</a:t>
                      </a:r>
                      <a:endParaRPr sz="11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100">
                          <a:solidFill>
                            <a:schemeClr val="lt1"/>
                          </a:solidFill>
                          <a:latin typeface="Merriweather"/>
                          <a:ea typeface="Merriweather"/>
                          <a:cs typeface="Merriweather"/>
                          <a:sym typeface="Merriweather"/>
                        </a:rPr>
                        <a:t>B</a:t>
                      </a:r>
                      <a:r>
                        <a:rPr lang="en" sz="1100">
                          <a:solidFill>
                            <a:schemeClr val="lt1"/>
                          </a:solidFill>
                          <a:latin typeface="Merriweather"/>
                          <a:ea typeface="Merriweather"/>
                          <a:cs typeface="Merriweather"/>
                          <a:sym typeface="Merriweather"/>
                        </a:rPr>
                        <a:t>udget ($)</a:t>
                      </a:r>
                      <a:endParaRPr sz="11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lang="en" sz="1100">
                          <a:solidFill>
                            <a:schemeClr val="lt1"/>
                          </a:solidFill>
                          <a:latin typeface="Merriweather"/>
                          <a:ea typeface="Merriweather"/>
                          <a:cs typeface="Merriweather"/>
                          <a:sym typeface="Merriweather"/>
                        </a:rPr>
                        <a:t>ROI ratio</a:t>
                      </a:r>
                      <a:endParaRPr sz="11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solidFill>
                      <a:srgbClr val="4A86E8"/>
                    </a:solidFill>
                  </a:tcPr>
                </a:tc>
              </a:tr>
              <a:tr h="343525">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Modern Times</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1936</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Drama, Comedy</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8.5M</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8,500,000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r>
              <a:tr h="343525">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Nurse 3-D</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2013</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Horror, Thriller</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10M</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1,000,000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r>
              <a:tr h="343525">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Paranormal</a:t>
                      </a:r>
                      <a:r>
                        <a:rPr lang="en" sz="1000">
                          <a:solidFill>
                            <a:schemeClr val="lt1"/>
                          </a:solidFill>
                          <a:latin typeface="Merriweather"/>
                          <a:ea typeface="Merriweather"/>
                          <a:cs typeface="Merriweather"/>
                          <a:sym typeface="Merriweather"/>
                        </a:rPr>
                        <a:t> Activity</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2007</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Horror, Mystery</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193M</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218</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12,890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r>
              <a:tr h="343525">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Tarnation</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2003</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Clr>
                          <a:schemeClr val="hlink"/>
                        </a:buClr>
                        <a:buSzPts val="1100"/>
                        <a:buFont typeface="Arial"/>
                        <a:buNone/>
                      </a:pPr>
                      <a:r>
                        <a:rPr lang="en" sz="1000">
                          <a:solidFill>
                            <a:schemeClr val="lt1"/>
                          </a:solidFill>
                          <a:latin typeface="Merriweather"/>
                          <a:ea typeface="Merriweather"/>
                          <a:cs typeface="Merriweather"/>
                          <a:sym typeface="Merriweather"/>
                        </a:rPr>
                        <a:t>Documentary, Drama</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1.1M</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15,000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5,330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r>
              <a:tr h="343525">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The Blair Witch Project</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1999</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Clr>
                          <a:schemeClr val="hlink"/>
                        </a:buClr>
                        <a:buSzPts val="1100"/>
                        <a:buFont typeface="Arial"/>
                        <a:buNone/>
                      </a:pPr>
                      <a:r>
                        <a:rPr lang="en" sz="1000">
                          <a:solidFill>
                            <a:schemeClr val="lt1"/>
                          </a:solidFill>
                          <a:latin typeface="Merriweather"/>
                          <a:ea typeface="Merriweather"/>
                          <a:cs typeface="Merriweather"/>
                          <a:sym typeface="Merriweather"/>
                        </a:rPr>
                        <a:t>Horror, Mystery</a:t>
                      </a:r>
                      <a:endParaRPr sz="1300">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248M</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60,000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4,133</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r>
              <a:tr h="343525">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Eraserhead</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1977</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Drama, Fantasy, Horror, SF</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7M</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10,000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700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r>
              <a:tr h="343525">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Pink Flamingos</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1972</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Horror, Comedy, Crime</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6M</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12,000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500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r>
              <a:tr h="343525">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Super Size Me</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2004</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Documentary, Comedy, Drama</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28M</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65,000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lt1"/>
                          </a:solidFill>
                          <a:latin typeface="Merriweather"/>
                          <a:ea typeface="Merriweather"/>
                          <a:cs typeface="Merriweather"/>
                          <a:sym typeface="Merriweather"/>
                        </a:rPr>
                        <a:t>440</a:t>
                      </a:r>
                      <a:endParaRPr sz="1000">
                        <a:solidFill>
                          <a:schemeClr val="lt1"/>
                        </a:solidFill>
                        <a:latin typeface="Merriweather"/>
                        <a:ea typeface="Merriweather"/>
                        <a:cs typeface="Merriweather"/>
                        <a:sym typeface="Merriweather"/>
                      </a:endParaRPr>
                    </a:p>
                  </a:txBody>
                  <a:tcPr marT="91425" marB="91425" marR="91425" marL="91425">
                    <a:lnL cap="flat" cmpd="sng" w="19050">
                      <a:solidFill>
                        <a:srgbClr val="9FC5E8"/>
                      </a:solidFill>
                      <a:prstDash val="solid"/>
                      <a:round/>
                      <a:headEnd len="sm" w="sm" type="none"/>
                      <a:tailEnd len="sm" w="sm" type="none"/>
                    </a:lnL>
                    <a:lnR cap="flat" cmpd="sng" w="19050">
                      <a:solidFill>
                        <a:srgbClr val="9FC5E8"/>
                      </a:solidFill>
                      <a:prstDash val="solid"/>
                      <a:round/>
                      <a:headEnd len="sm" w="sm" type="none"/>
                      <a:tailEnd len="sm" w="sm" type="none"/>
                    </a:lnR>
                    <a:lnT cap="flat" cmpd="sng" w="19050">
                      <a:solidFill>
                        <a:srgbClr val="9FC5E8"/>
                      </a:solidFill>
                      <a:prstDash val="solid"/>
                      <a:round/>
                      <a:headEnd len="sm" w="sm" type="none"/>
                      <a:tailEnd len="sm" w="sm" type="none"/>
                    </a:lnT>
                    <a:lnB cap="flat" cmpd="sng" w="19050">
                      <a:solidFill>
                        <a:srgbClr val="9FC5E8"/>
                      </a:solidFill>
                      <a:prstDash val="solid"/>
                      <a:round/>
                      <a:headEnd len="sm" w="sm" type="none"/>
                      <a:tailEnd len="sm" w="sm" type="none"/>
                    </a:lnB>
                  </a:tcPr>
                </a:tc>
              </a:tr>
            </a:tbl>
          </a:graphicData>
        </a:graphic>
      </p:graphicFrame>
      <p:sp>
        <p:nvSpPr>
          <p:cNvPr id="321" name="Google Shape;321;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ph idx="1" type="subTitle"/>
          </p:nvPr>
        </p:nvSpPr>
        <p:spPr>
          <a:xfrm>
            <a:off x="510066" y="1056841"/>
            <a:ext cx="6477000" cy="5001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050"/>
              <a:t>4. All time ROI ranking (Revenue / budget) </a:t>
            </a:r>
            <a:endParaRPr sz="2050"/>
          </a:p>
        </p:txBody>
      </p:sp>
      <p:sp>
        <p:nvSpPr>
          <p:cNvPr id="327" name="Google Shape;327;p42"/>
          <p:cNvSpPr txBox="1"/>
          <p:nvPr>
            <p:ph idx="2" type="body"/>
          </p:nvPr>
        </p:nvSpPr>
        <p:spPr>
          <a:xfrm>
            <a:off x="610550" y="405825"/>
            <a:ext cx="1212000" cy="7515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3200">
                <a:latin typeface="Merriweather"/>
                <a:ea typeface="Merriweather"/>
                <a:cs typeface="Merriweather"/>
                <a:sym typeface="Merriweather"/>
              </a:rPr>
              <a:t>EDA</a:t>
            </a:r>
            <a:endParaRPr sz="3200">
              <a:latin typeface="Merriweather"/>
              <a:ea typeface="Merriweather"/>
              <a:cs typeface="Merriweather"/>
              <a:sym typeface="Merriweather"/>
            </a:endParaRPr>
          </a:p>
        </p:txBody>
      </p:sp>
      <p:sp>
        <p:nvSpPr>
          <p:cNvPr id="328" name="Google Shape;328;p42"/>
          <p:cNvSpPr txBox="1"/>
          <p:nvPr>
            <p:ph idx="3" type="body"/>
          </p:nvPr>
        </p:nvSpPr>
        <p:spPr>
          <a:xfrm>
            <a:off x="7087526" y="196450"/>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329" name="Google Shape;329;p42"/>
          <p:cNvSpPr txBox="1"/>
          <p:nvPr/>
        </p:nvSpPr>
        <p:spPr>
          <a:xfrm>
            <a:off x="550525" y="1675175"/>
            <a:ext cx="8297400" cy="33189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chemeClr val="lt1"/>
              </a:buClr>
              <a:buSzPts val="1200"/>
              <a:buFont typeface="Merriweather"/>
              <a:buChar char="●"/>
            </a:pPr>
            <a:r>
              <a:rPr lang="en" sz="1200">
                <a:solidFill>
                  <a:schemeClr val="lt1"/>
                </a:solidFill>
                <a:latin typeface="Merriweather"/>
                <a:ea typeface="Merriweather"/>
                <a:cs typeface="Merriweather"/>
                <a:sym typeface="Merriweather"/>
              </a:rPr>
              <a:t>In ranking Top 10, there were data errors as we learned from the lecture slides. When you see the budget column, there are some values that seems to be nonsense, such as 1, 10, 218.</a:t>
            </a:r>
            <a:endParaRPr sz="1200">
              <a:solidFill>
                <a:schemeClr val="lt1"/>
              </a:solidFill>
              <a:latin typeface="Merriweather"/>
              <a:ea typeface="Merriweather"/>
              <a:cs typeface="Merriweather"/>
              <a:sym typeface="Merriweather"/>
            </a:endParaRPr>
          </a:p>
          <a:p>
            <a:pPr indent="0" lvl="0" marL="457200" rtl="0" algn="l">
              <a:lnSpc>
                <a:spcPct val="150000"/>
              </a:lnSpc>
              <a:spcBef>
                <a:spcPts val="0"/>
              </a:spcBef>
              <a:spcAft>
                <a:spcPts val="0"/>
              </a:spcAft>
              <a:buNone/>
            </a:pPr>
            <a:r>
              <a:t/>
            </a:r>
            <a:endParaRPr sz="1200">
              <a:solidFill>
                <a:schemeClr val="lt1"/>
              </a:solidFill>
              <a:latin typeface="Merriweather"/>
              <a:ea typeface="Merriweather"/>
              <a:cs typeface="Merriweather"/>
              <a:sym typeface="Merriweather"/>
            </a:endParaRPr>
          </a:p>
          <a:p>
            <a:pPr indent="-304800" lvl="0" marL="457200" rtl="0" algn="l">
              <a:lnSpc>
                <a:spcPct val="150000"/>
              </a:lnSpc>
              <a:spcBef>
                <a:spcPts val="0"/>
              </a:spcBef>
              <a:spcAft>
                <a:spcPts val="0"/>
              </a:spcAft>
              <a:buClr>
                <a:schemeClr val="lt1"/>
              </a:buClr>
              <a:buSzPts val="1200"/>
              <a:buFont typeface="Merriweather"/>
              <a:buChar char="●"/>
            </a:pPr>
            <a:r>
              <a:rPr lang="en" sz="1200">
                <a:solidFill>
                  <a:schemeClr val="lt1"/>
                </a:solidFill>
                <a:latin typeface="Merriweather"/>
                <a:ea typeface="Merriweather"/>
                <a:cs typeface="Merriweather"/>
                <a:sym typeface="Merriweather"/>
              </a:rPr>
              <a:t>We searched those movie budgets on google by our own, and found out that they were $1M, $10M, and $218 each. Surprising thing was that the movie Tarnation was actually one of the famous low-budget made movies ($218).</a:t>
            </a:r>
            <a:endParaRPr sz="1200">
              <a:solidFill>
                <a:schemeClr val="lt1"/>
              </a:solidFill>
              <a:latin typeface="Merriweather"/>
              <a:ea typeface="Merriweather"/>
              <a:cs typeface="Merriweather"/>
              <a:sym typeface="Merriweather"/>
            </a:endParaRPr>
          </a:p>
          <a:p>
            <a:pPr indent="0" lvl="0" marL="457200" rtl="0" algn="l">
              <a:lnSpc>
                <a:spcPct val="150000"/>
              </a:lnSpc>
              <a:spcBef>
                <a:spcPts val="0"/>
              </a:spcBef>
              <a:spcAft>
                <a:spcPts val="0"/>
              </a:spcAft>
              <a:buNone/>
            </a:pPr>
            <a:r>
              <a:t/>
            </a:r>
            <a:endParaRPr sz="1200">
              <a:solidFill>
                <a:schemeClr val="lt1"/>
              </a:solidFill>
              <a:latin typeface="Merriweather"/>
              <a:ea typeface="Merriweather"/>
              <a:cs typeface="Merriweather"/>
              <a:sym typeface="Merriweather"/>
            </a:endParaRPr>
          </a:p>
          <a:p>
            <a:pPr indent="-304800" lvl="0" marL="457200" rtl="0" algn="l">
              <a:lnSpc>
                <a:spcPct val="150000"/>
              </a:lnSpc>
              <a:spcBef>
                <a:spcPts val="0"/>
              </a:spcBef>
              <a:spcAft>
                <a:spcPts val="0"/>
              </a:spcAft>
              <a:buClr>
                <a:schemeClr val="lt1"/>
              </a:buClr>
              <a:buSzPts val="1200"/>
              <a:buFont typeface="Merriweather"/>
              <a:buChar char="●"/>
            </a:pPr>
            <a:r>
              <a:rPr lang="en" sz="1200">
                <a:solidFill>
                  <a:schemeClr val="lt1"/>
                </a:solidFill>
                <a:latin typeface="Merriweather"/>
                <a:ea typeface="Merriweather"/>
                <a:cs typeface="Merriweather"/>
                <a:sym typeface="Merriweather"/>
              </a:rPr>
              <a:t>However, the Modern Times and Nurse 3-D can be concluded that this error likely originated from negligence on the part of the data entry personnel or the platform itself. The correct values should have been entered with consideration for the units, or the platform should have properly conducted unit conversion during the process of data refinement and management.</a:t>
            </a:r>
            <a:endParaRPr sz="1200">
              <a:solidFill>
                <a:schemeClr val="lt1"/>
              </a:solidFill>
              <a:latin typeface="Merriweather"/>
              <a:ea typeface="Merriweather"/>
              <a:cs typeface="Merriweather"/>
              <a:sym typeface="Merriweath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 name="Shape 333"/>
        <p:cNvGrpSpPr/>
        <p:nvPr/>
      </p:nvGrpSpPr>
      <p:grpSpPr>
        <a:xfrm>
          <a:off x="0" y="0"/>
          <a:ext cx="0" cy="0"/>
          <a:chOff x="0" y="0"/>
          <a:chExt cx="0" cy="0"/>
        </a:xfrm>
      </p:grpSpPr>
      <p:sp>
        <p:nvSpPr>
          <p:cNvPr id="334" name="Google Shape;334;p43"/>
          <p:cNvSpPr txBox="1"/>
          <p:nvPr>
            <p:ph idx="1" type="subTitle"/>
          </p:nvPr>
        </p:nvSpPr>
        <p:spPr>
          <a:xfrm>
            <a:off x="657751" y="529900"/>
            <a:ext cx="2142000" cy="5619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450">
                <a:solidFill>
                  <a:schemeClr val="dk1"/>
                </a:solidFill>
              </a:rPr>
              <a:t>Used Models</a:t>
            </a:r>
            <a:r>
              <a:rPr lang="en" sz="2050">
                <a:solidFill>
                  <a:schemeClr val="dk1"/>
                </a:solidFill>
              </a:rPr>
              <a:t> </a:t>
            </a:r>
            <a:endParaRPr sz="2050">
              <a:solidFill>
                <a:schemeClr val="dk1"/>
              </a:solidFill>
            </a:endParaRPr>
          </a:p>
        </p:txBody>
      </p:sp>
      <p:sp>
        <p:nvSpPr>
          <p:cNvPr id="335" name="Google Shape;335;p43"/>
          <p:cNvSpPr txBox="1"/>
          <p:nvPr>
            <p:ph idx="2" type="body"/>
          </p:nvPr>
        </p:nvSpPr>
        <p:spPr>
          <a:xfrm>
            <a:off x="720625" y="1155638"/>
            <a:ext cx="3046500" cy="455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1800">
                <a:solidFill>
                  <a:schemeClr val="dk1"/>
                </a:solidFill>
                <a:latin typeface="Merriweather"/>
                <a:ea typeface="Merriweather"/>
                <a:cs typeface="Merriweather"/>
                <a:sym typeface="Merriweather"/>
              </a:rPr>
              <a:t>Simple Linear Regression</a:t>
            </a:r>
            <a:endParaRPr sz="1800">
              <a:solidFill>
                <a:schemeClr val="dk1"/>
              </a:solidFill>
              <a:latin typeface="Merriweather"/>
              <a:ea typeface="Merriweather"/>
              <a:cs typeface="Merriweather"/>
              <a:sym typeface="Merriweather"/>
            </a:endParaRPr>
          </a:p>
        </p:txBody>
      </p:sp>
      <p:sp>
        <p:nvSpPr>
          <p:cNvPr id="336" name="Google Shape;336;p43"/>
          <p:cNvSpPr txBox="1"/>
          <p:nvPr>
            <p:ph idx="3" type="body"/>
          </p:nvPr>
        </p:nvSpPr>
        <p:spPr>
          <a:xfrm>
            <a:off x="7087526" y="196450"/>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solidFill>
                  <a:schemeClr val="dk1"/>
                </a:solidFill>
              </a:rPr>
              <a:t>CSE 351 Presentation</a:t>
            </a:r>
            <a:endParaRPr>
              <a:solidFill>
                <a:schemeClr val="dk1"/>
              </a:solidFill>
            </a:endParaRPr>
          </a:p>
        </p:txBody>
      </p:sp>
      <p:sp>
        <p:nvSpPr>
          <p:cNvPr id="337" name="Google Shape;337;p43"/>
          <p:cNvSpPr txBox="1"/>
          <p:nvPr/>
        </p:nvSpPr>
        <p:spPr>
          <a:xfrm>
            <a:off x="550525" y="1675175"/>
            <a:ext cx="8297400" cy="33189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chemeClr val="dk1"/>
              </a:buClr>
              <a:buSzPts val="1200"/>
              <a:buFont typeface="Merriweather"/>
              <a:buChar char="●"/>
            </a:pPr>
            <a:r>
              <a:rPr lang="en" sz="1200">
                <a:solidFill>
                  <a:schemeClr val="dk1"/>
                </a:solidFill>
                <a:latin typeface="Merriweather"/>
                <a:ea typeface="Merriweather"/>
                <a:cs typeface="Merriweather"/>
                <a:sym typeface="Merriweather"/>
              </a:rPr>
              <a:t>Simple Linear Regression models the </a:t>
            </a:r>
            <a:r>
              <a:rPr b="1" lang="en" sz="1200">
                <a:solidFill>
                  <a:schemeClr val="dk1"/>
                </a:solidFill>
                <a:latin typeface="Merriweather"/>
                <a:ea typeface="Merriweather"/>
                <a:cs typeface="Merriweather"/>
                <a:sym typeface="Merriweather"/>
              </a:rPr>
              <a:t>linear relationship</a:t>
            </a:r>
            <a:r>
              <a:rPr lang="en" sz="1200">
                <a:solidFill>
                  <a:schemeClr val="dk1"/>
                </a:solidFill>
                <a:latin typeface="Merriweather"/>
                <a:ea typeface="Merriweather"/>
                <a:cs typeface="Merriweather"/>
                <a:sym typeface="Merriweather"/>
              </a:rPr>
              <a:t> between a single independent variable (x) and a single dependent variable (y).</a:t>
            </a:r>
            <a:endParaRPr sz="1200">
              <a:solidFill>
                <a:schemeClr val="dk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200">
              <a:solidFill>
                <a:schemeClr val="dk1"/>
              </a:solidFill>
              <a:latin typeface="Merriweather"/>
              <a:ea typeface="Merriweather"/>
              <a:cs typeface="Merriweather"/>
              <a:sym typeface="Merriweather"/>
            </a:endParaRPr>
          </a:p>
          <a:p>
            <a:pPr indent="-304800" lvl="0" marL="457200" rtl="0" algn="l">
              <a:lnSpc>
                <a:spcPct val="150000"/>
              </a:lnSpc>
              <a:spcBef>
                <a:spcPts val="0"/>
              </a:spcBef>
              <a:spcAft>
                <a:spcPts val="0"/>
              </a:spcAft>
              <a:buClr>
                <a:schemeClr val="dk1"/>
              </a:buClr>
              <a:buSzPts val="1200"/>
              <a:buFont typeface="Merriweather"/>
              <a:buChar char="●"/>
            </a:pPr>
            <a:r>
              <a:rPr lang="en" sz="1200">
                <a:solidFill>
                  <a:schemeClr val="dk1"/>
                </a:solidFill>
                <a:latin typeface="Merriweather"/>
                <a:ea typeface="Merriweather"/>
                <a:cs typeface="Merriweather"/>
                <a:sym typeface="Merriweather"/>
              </a:rPr>
              <a:t>How it works: </a:t>
            </a:r>
            <a:br>
              <a:rPr lang="en" sz="1200">
                <a:solidFill>
                  <a:schemeClr val="dk1"/>
                </a:solidFill>
                <a:latin typeface="Merriweather"/>
                <a:ea typeface="Merriweather"/>
                <a:cs typeface="Merriweather"/>
                <a:sym typeface="Merriweather"/>
              </a:rPr>
            </a:br>
            <a:r>
              <a:rPr lang="en" sz="1200">
                <a:solidFill>
                  <a:schemeClr val="dk1"/>
                </a:solidFill>
                <a:latin typeface="Merriweather"/>
                <a:ea typeface="Merriweather"/>
                <a:cs typeface="Merriweather"/>
                <a:sym typeface="Merriweather"/>
              </a:rPr>
              <a:t>This regression finds the </a:t>
            </a:r>
            <a:r>
              <a:rPr b="1" lang="en" sz="1200">
                <a:solidFill>
                  <a:schemeClr val="dk1"/>
                </a:solidFill>
                <a:latin typeface="Merriweather"/>
                <a:ea typeface="Merriweather"/>
                <a:cs typeface="Merriweather"/>
                <a:sym typeface="Merriweather"/>
              </a:rPr>
              <a:t>single best-fitting straight line</a:t>
            </a:r>
            <a:r>
              <a:rPr lang="en" sz="1200">
                <a:solidFill>
                  <a:schemeClr val="dk1"/>
                </a:solidFill>
                <a:latin typeface="Merriweather"/>
                <a:ea typeface="Merriweather"/>
                <a:cs typeface="Merriweather"/>
                <a:sym typeface="Merriweather"/>
              </a:rPr>
              <a:t> that passes through the data points. The criterion for "best-fitting" is defined by the Ordinary Least Squares (OLS) method. OLS works by minimizing the sum of the squared differences (residuals) between the actual data points and the values predicted by the line. Therefore, the process mathematically determines the optimal slope and intercept.</a:t>
            </a:r>
            <a:endParaRPr sz="1200">
              <a:solidFill>
                <a:schemeClr val="dk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200">
              <a:solidFill>
                <a:schemeClr val="dk1"/>
              </a:solidFill>
              <a:latin typeface="Merriweather"/>
              <a:ea typeface="Merriweather"/>
              <a:cs typeface="Merriweather"/>
              <a:sym typeface="Merriweath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sp>
        <p:nvSpPr>
          <p:cNvPr id="342" name="Google Shape;342;p44"/>
          <p:cNvSpPr txBox="1"/>
          <p:nvPr>
            <p:ph idx="1" type="subTitle"/>
          </p:nvPr>
        </p:nvSpPr>
        <p:spPr>
          <a:xfrm>
            <a:off x="657751" y="529900"/>
            <a:ext cx="2142000" cy="5619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450">
                <a:solidFill>
                  <a:schemeClr val="dk1"/>
                </a:solidFill>
              </a:rPr>
              <a:t>Used Models</a:t>
            </a:r>
            <a:r>
              <a:rPr lang="en" sz="2050">
                <a:solidFill>
                  <a:schemeClr val="dk1"/>
                </a:solidFill>
              </a:rPr>
              <a:t> </a:t>
            </a:r>
            <a:endParaRPr sz="2050">
              <a:solidFill>
                <a:schemeClr val="dk1"/>
              </a:solidFill>
            </a:endParaRPr>
          </a:p>
        </p:txBody>
      </p:sp>
      <p:sp>
        <p:nvSpPr>
          <p:cNvPr id="343" name="Google Shape;343;p44"/>
          <p:cNvSpPr txBox="1"/>
          <p:nvPr>
            <p:ph idx="2" type="body"/>
          </p:nvPr>
        </p:nvSpPr>
        <p:spPr>
          <a:xfrm>
            <a:off x="720625" y="1155650"/>
            <a:ext cx="3172500" cy="455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1800">
                <a:solidFill>
                  <a:schemeClr val="dk1"/>
                </a:solidFill>
                <a:latin typeface="Merriweather"/>
                <a:ea typeface="Merriweather"/>
                <a:cs typeface="Merriweather"/>
                <a:sym typeface="Merriweather"/>
              </a:rPr>
              <a:t>Multiple</a:t>
            </a:r>
            <a:r>
              <a:rPr lang="en" sz="1800">
                <a:solidFill>
                  <a:schemeClr val="dk1"/>
                </a:solidFill>
                <a:latin typeface="Merriweather"/>
                <a:ea typeface="Merriweather"/>
                <a:cs typeface="Merriweather"/>
                <a:sym typeface="Merriweather"/>
              </a:rPr>
              <a:t> Linear Regression</a:t>
            </a:r>
            <a:endParaRPr sz="1800">
              <a:solidFill>
                <a:schemeClr val="dk1"/>
              </a:solidFill>
              <a:latin typeface="Merriweather"/>
              <a:ea typeface="Merriweather"/>
              <a:cs typeface="Merriweather"/>
              <a:sym typeface="Merriweather"/>
            </a:endParaRPr>
          </a:p>
        </p:txBody>
      </p:sp>
      <p:sp>
        <p:nvSpPr>
          <p:cNvPr id="344" name="Google Shape;344;p44"/>
          <p:cNvSpPr txBox="1"/>
          <p:nvPr>
            <p:ph idx="3" type="body"/>
          </p:nvPr>
        </p:nvSpPr>
        <p:spPr>
          <a:xfrm>
            <a:off x="7087526" y="196450"/>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solidFill>
                  <a:schemeClr val="dk1"/>
                </a:solidFill>
              </a:rPr>
              <a:t>CSE 351 Presentation</a:t>
            </a:r>
            <a:endParaRPr>
              <a:solidFill>
                <a:schemeClr val="dk1"/>
              </a:solidFill>
            </a:endParaRPr>
          </a:p>
        </p:txBody>
      </p:sp>
      <p:sp>
        <p:nvSpPr>
          <p:cNvPr id="345" name="Google Shape;345;p44"/>
          <p:cNvSpPr txBox="1"/>
          <p:nvPr/>
        </p:nvSpPr>
        <p:spPr>
          <a:xfrm>
            <a:off x="550525" y="1675175"/>
            <a:ext cx="8297400" cy="33189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chemeClr val="dk1"/>
              </a:buClr>
              <a:buSzPts val="1200"/>
              <a:buFont typeface="Merriweather"/>
              <a:buChar char="●"/>
            </a:pPr>
            <a:r>
              <a:rPr lang="en" sz="1200">
                <a:solidFill>
                  <a:schemeClr val="dk1"/>
                </a:solidFill>
                <a:latin typeface="Merriweather"/>
                <a:ea typeface="Merriweather"/>
                <a:cs typeface="Merriweather"/>
                <a:sym typeface="Merriweather"/>
              </a:rPr>
              <a:t>Multiple Linear Regression is an extension of Simple Linear Regression that uses</a:t>
            </a:r>
            <a:r>
              <a:rPr b="1" lang="en" sz="1200">
                <a:solidFill>
                  <a:schemeClr val="dk1"/>
                </a:solidFill>
                <a:latin typeface="Merriweather"/>
                <a:ea typeface="Merriweather"/>
                <a:cs typeface="Merriweather"/>
                <a:sym typeface="Merriweather"/>
              </a:rPr>
              <a:t> two or more independent variables </a:t>
            </a:r>
            <a:r>
              <a:rPr lang="en" sz="1200">
                <a:solidFill>
                  <a:schemeClr val="dk1"/>
                </a:solidFill>
                <a:latin typeface="Merriweather"/>
                <a:ea typeface="Merriweather"/>
                <a:cs typeface="Merriweather"/>
                <a:sym typeface="Merriweather"/>
              </a:rPr>
              <a:t>to predict a single dependent variable (y). Each independent variable has its own independent weight (coefficient).</a:t>
            </a:r>
            <a:endParaRPr sz="1200">
              <a:solidFill>
                <a:schemeClr val="dk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200">
              <a:solidFill>
                <a:schemeClr val="dk1"/>
              </a:solidFill>
              <a:latin typeface="Merriweather"/>
              <a:ea typeface="Merriweather"/>
              <a:cs typeface="Merriweather"/>
              <a:sym typeface="Merriweather"/>
            </a:endParaRPr>
          </a:p>
          <a:p>
            <a:pPr indent="-304800" lvl="0" marL="457200" rtl="0" algn="l">
              <a:lnSpc>
                <a:spcPct val="150000"/>
              </a:lnSpc>
              <a:spcBef>
                <a:spcPts val="0"/>
              </a:spcBef>
              <a:spcAft>
                <a:spcPts val="0"/>
              </a:spcAft>
              <a:buClr>
                <a:schemeClr val="dk1"/>
              </a:buClr>
              <a:buSzPts val="1200"/>
              <a:buFont typeface="Merriweather"/>
              <a:buChar char="●"/>
            </a:pPr>
            <a:r>
              <a:rPr lang="en" sz="1200">
                <a:solidFill>
                  <a:schemeClr val="dk1"/>
                </a:solidFill>
                <a:latin typeface="Merriweather"/>
                <a:ea typeface="Merriweather"/>
                <a:cs typeface="Merriweather"/>
                <a:sym typeface="Merriweather"/>
              </a:rPr>
              <a:t>How it works: </a:t>
            </a:r>
            <a:br>
              <a:rPr lang="en" sz="1200">
                <a:solidFill>
                  <a:schemeClr val="dk1"/>
                </a:solidFill>
                <a:latin typeface="Merriweather"/>
                <a:ea typeface="Merriweather"/>
                <a:cs typeface="Merriweather"/>
                <a:sym typeface="Merriweather"/>
              </a:rPr>
            </a:br>
            <a:r>
              <a:rPr lang="en" sz="1200">
                <a:solidFill>
                  <a:schemeClr val="dk1"/>
                </a:solidFill>
                <a:latin typeface="Merriweather"/>
                <a:ea typeface="Merriweather"/>
                <a:cs typeface="Merriweather"/>
                <a:sym typeface="Merriweather"/>
              </a:rPr>
              <a:t>This regression uses</a:t>
            </a:r>
            <a:r>
              <a:rPr lang="en" sz="1200">
                <a:solidFill>
                  <a:schemeClr val="dk1"/>
                </a:solidFill>
                <a:latin typeface="Merriweather"/>
                <a:ea typeface="Merriweather"/>
                <a:cs typeface="Merriweather"/>
                <a:sym typeface="Merriweather"/>
              </a:rPr>
              <a:t> multiple variables to find the best-fitting hyperplane in a multi-dimensional space. It uses OLS algorithm to minimize prediction errors across all variables simultaneously, assigning an optimal weight to each input feature.</a:t>
            </a:r>
            <a:endParaRPr sz="1200">
              <a:solidFill>
                <a:schemeClr val="dk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200">
              <a:solidFill>
                <a:schemeClr val="dk1"/>
              </a:solidFill>
              <a:latin typeface="Merriweather"/>
              <a:ea typeface="Merriweather"/>
              <a:cs typeface="Merriweather"/>
              <a:sym typeface="Merriweath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9" name="Shape 349"/>
        <p:cNvGrpSpPr/>
        <p:nvPr/>
      </p:nvGrpSpPr>
      <p:grpSpPr>
        <a:xfrm>
          <a:off x="0" y="0"/>
          <a:ext cx="0" cy="0"/>
          <a:chOff x="0" y="0"/>
          <a:chExt cx="0" cy="0"/>
        </a:xfrm>
      </p:grpSpPr>
      <p:sp>
        <p:nvSpPr>
          <p:cNvPr id="350" name="Google Shape;350;p45"/>
          <p:cNvSpPr txBox="1"/>
          <p:nvPr>
            <p:ph idx="1" type="subTitle"/>
          </p:nvPr>
        </p:nvSpPr>
        <p:spPr>
          <a:xfrm>
            <a:off x="657751" y="529900"/>
            <a:ext cx="2142000" cy="561900"/>
          </a:xfrm>
          <a:prstGeom prst="rect">
            <a:avLst/>
          </a:prstGeom>
        </p:spPr>
        <p:txBody>
          <a:bodyPr anchorCtr="0" anchor="ctr" bIns="91425" lIns="91425" spcFirstLastPara="1" rIns="91425" wrap="square" tIns="91425">
            <a:spAutoFit/>
          </a:bodyPr>
          <a:lstStyle/>
          <a:p>
            <a:pPr indent="0" lvl="0" marL="0" rtl="0" algn="l">
              <a:spcBef>
                <a:spcPts val="0"/>
              </a:spcBef>
              <a:spcAft>
                <a:spcPts val="1200"/>
              </a:spcAft>
              <a:buNone/>
            </a:pPr>
            <a:r>
              <a:rPr lang="en" sz="2450">
                <a:solidFill>
                  <a:schemeClr val="dk1"/>
                </a:solidFill>
              </a:rPr>
              <a:t>Used Models</a:t>
            </a:r>
            <a:r>
              <a:rPr lang="en" sz="2050">
                <a:solidFill>
                  <a:schemeClr val="dk1"/>
                </a:solidFill>
              </a:rPr>
              <a:t> </a:t>
            </a:r>
            <a:endParaRPr sz="2050">
              <a:solidFill>
                <a:schemeClr val="dk1"/>
              </a:solidFill>
            </a:endParaRPr>
          </a:p>
        </p:txBody>
      </p:sp>
      <p:sp>
        <p:nvSpPr>
          <p:cNvPr id="351" name="Google Shape;351;p45"/>
          <p:cNvSpPr txBox="1"/>
          <p:nvPr>
            <p:ph idx="2" type="body"/>
          </p:nvPr>
        </p:nvSpPr>
        <p:spPr>
          <a:xfrm>
            <a:off x="720625" y="1155650"/>
            <a:ext cx="3911700" cy="455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1800">
                <a:solidFill>
                  <a:schemeClr val="dk1"/>
                </a:solidFill>
                <a:latin typeface="Merriweather"/>
                <a:ea typeface="Merriweather"/>
                <a:cs typeface="Merriweather"/>
                <a:sym typeface="Merriweather"/>
              </a:rPr>
              <a:t>Polynomial (Ridge) </a:t>
            </a:r>
            <a:r>
              <a:rPr lang="en" sz="1800">
                <a:solidFill>
                  <a:schemeClr val="dk1"/>
                </a:solidFill>
                <a:latin typeface="Merriweather"/>
                <a:ea typeface="Merriweather"/>
                <a:cs typeface="Merriweather"/>
                <a:sym typeface="Merriweather"/>
              </a:rPr>
              <a:t>Regression</a:t>
            </a:r>
            <a:endParaRPr sz="1800">
              <a:solidFill>
                <a:schemeClr val="dk1"/>
              </a:solidFill>
              <a:latin typeface="Merriweather"/>
              <a:ea typeface="Merriweather"/>
              <a:cs typeface="Merriweather"/>
              <a:sym typeface="Merriweather"/>
            </a:endParaRPr>
          </a:p>
        </p:txBody>
      </p:sp>
      <p:sp>
        <p:nvSpPr>
          <p:cNvPr id="352" name="Google Shape;352;p45"/>
          <p:cNvSpPr txBox="1"/>
          <p:nvPr>
            <p:ph idx="3" type="body"/>
          </p:nvPr>
        </p:nvSpPr>
        <p:spPr>
          <a:xfrm>
            <a:off x="7087526" y="196450"/>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solidFill>
                  <a:schemeClr val="dk1"/>
                </a:solidFill>
              </a:rPr>
              <a:t>CSE 351 Presentation</a:t>
            </a:r>
            <a:endParaRPr>
              <a:solidFill>
                <a:schemeClr val="dk1"/>
              </a:solidFill>
            </a:endParaRPr>
          </a:p>
        </p:txBody>
      </p:sp>
      <p:sp>
        <p:nvSpPr>
          <p:cNvPr id="353" name="Google Shape;353;p45"/>
          <p:cNvSpPr txBox="1"/>
          <p:nvPr/>
        </p:nvSpPr>
        <p:spPr>
          <a:xfrm>
            <a:off x="550525" y="1675175"/>
            <a:ext cx="8297400" cy="33189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chemeClr val="dk1"/>
              </a:buClr>
              <a:buSzPts val="1200"/>
              <a:buFont typeface="Merriweather"/>
              <a:buChar char="●"/>
            </a:pPr>
            <a:r>
              <a:rPr b="1" lang="en" sz="1200">
                <a:solidFill>
                  <a:schemeClr val="dk1"/>
                </a:solidFill>
                <a:latin typeface="Merriweather"/>
                <a:ea typeface="Merriweather"/>
                <a:cs typeface="Merriweather"/>
                <a:sym typeface="Merriweather"/>
              </a:rPr>
              <a:t>Polynomial:</a:t>
            </a:r>
            <a:br>
              <a:rPr lang="en" sz="1200">
                <a:solidFill>
                  <a:schemeClr val="dk1"/>
                </a:solidFill>
                <a:latin typeface="Merriweather"/>
                <a:ea typeface="Merriweather"/>
                <a:cs typeface="Merriweather"/>
                <a:sym typeface="Merriweather"/>
              </a:rPr>
            </a:br>
            <a:r>
              <a:rPr lang="en" sz="1200">
                <a:solidFill>
                  <a:schemeClr val="dk1"/>
                </a:solidFill>
                <a:latin typeface="Merriweather"/>
                <a:ea typeface="Merriweather"/>
                <a:cs typeface="Merriweather"/>
                <a:sym typeface="Merriweather"/>
              </a:rPr>
              <a:t>It adds powers (exponents) of the independent variables as new features to the linear model. This allows the model to capture curved or non-linear patterns in the data that a simple straight line cannot fit.</a:t>
            </a:r>
            <a:endParaRPr sz="1200">
              <a:solidFill>
                <a:schemeClr val="dk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200">
              <a:solidFill>
                <a:schemeClr val="dk1"/>
              </a:solidFill>
              <a:latin typeface="Merriweather"/>
              <a:ea typeface="Merriweather"/>
              <a:cs typeface="Merriweather"/>
              <a:sym typeface="Merriweather"/>
            </a:endParaRPr>
          </a:p>
          <a:p>
            <a:pPr indent="-304800" lvl="0" marL="457200" rtl="0" algn="l">
              <a:lnSpc>
                <a:spcPct val="150000"/>
              </a:lnSpc>
              <a:spcBef>
                <a:spcPts val="0"/>
              </a:spcBef>
              <a:spcAft>
                <a:spcPts val="0"/>
              </a:spcAft>
              <a:buClr>
                <a:schemeClr val="dk1"/>
              </a:buClr>
              <a:buSzPts val="1200"/>
              <a:buFont typeface="Merriweather"/>
              <a:buChar char="●"/>
            </a:pPr>
            <a:r>
              <a:rPr b="1" lang="en" sz="1200">
                <a:solidFill>
                  <a:schemeClr val="dk1"/>
                </a:solidFill>
                <a:latin typeface="Merriweather"/>
                <a:ea typeface="Merriweather"/>
                <a:cs typeface="Merriweather"/>
                <a:sym typeface="Merriweather"/>
              </a:rPr>
              <a:t>Ridge:</a:t>
            </a:r>
            <a:br>
              <a:rPr lang="en" sz="1200">
                <a:solidFill>
                  <a:schemeClr val="dk1"/>
                </a:solidFill>
                <a:latin typeface="Merriweather"/>
                <a:ea typeface="Merriweather"/>
                <a:cs typeface="Merriweather"/>
                <a:sym typeface="Merriweather"/>
              </a:rPr>
            </a:br>
            <a:r>
              <a:rPr lang="en" sz="1200">
                <a:solidFill>
                  <a:schemeClr val="dk1"/>
                </a:solidFill>
                <a:latin typeface="Merriweather"/>
                <a:ea typeface="Merriweather"/>
                <a:cs typeface="Merriweather"/>
                <a:sym typeface="Merriweather"/>
              </a:rPr>
              <a:t>While polynomial regression increases model complexity, raising the risk of overfitting (performing well on training data but poorly on unseen data), Ridge Regression counteracts this by employing L2 Regularization, which simply means a more complex  form of Ordinary Least Squares.</a:t>
            </a:r>
            <a:endParaRPr sz="1200">
              <a:solidFill>
                <a:schemeClr val="dk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200">
              <a:solidFill>
                <a:schemeClr val="dk1"/>
              </a:solidFill>
              <a:latin typeface="Merriweather"/>
              <a:ea typeface="Merriweather"/>
              <a:cs typeface="Merriweather"/>
              <a:sym typeface="Merriweath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6"/>
          <p:cNvSpPr/>
          <p:nvPr/>
        </p:nvSpPr>
        <p:spPr>
          <a:xfrm>
            <a:off x="260250" y="1321250"/>
            <a:ext cx="3594300" cy="2980800"/>
          </a:xfrm>
          <a:prstGeom prst="roundRect">
            <a:avLst>
              <a:gd fmla="val 16667" name="adj"/>
            </a:avLst>
          </a:prstGeom>
          <a:no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9" name="Google Shape;359;p46"/>
          <p:cNvSpPr txBox="1"/>
          <p:nvPr>
            <p:ph type="title"/>
          </p:nvPr>
        </p:nvSpPr>
        <p:spPr>
          <a:xfrm>
            <a:off x="241050" y="236075"/>
            <a:ext cx="3632700" cy="507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50"/>
              <a:t>2 distributions of data</a:t>
            </a:r>
            <a:endParaRPr sz="2350"/>
          </a:p>
        </p:txBody>
      </p:sp>
      <p:sp>
        <p:nvSpPr>
          <p:cNvPr id="360" name="Google Shape;360;p46"/>
          <p:cNvSpPr txBox="1"/>
          <p:nvPr>
            <p:ph idx="1" type="body"/>
          </p:nvPr>
        </p:nvSpPr>
        <p:spPr>
          <a:xfrm>
            <a:off x="551275" y="743075"/>
            <a:ext cx="2531700" cy="366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accent3"/>
              </a:buClr>
              <a:buSzPts val="1100"/>
              <a:buFont typeface="Arial"/>
              <a:buNone/>
            </a:pPr>
            <a:r>
              <a:rPr lang="en">
                <a:latin typeface="Merriweather"/>
                <a:ea typeface="Merriweather"/>
                <a:cs typeface="Merriweather"/>
                <a:sym typeface="Merriweather"/>
              </a:rPr>
              <a:t>70% - </a:t>
            </a:r>
            <a:r>
              <a:rPr lang="en">
                <a:latin typeface="Merriweather"/>
                <a:ea typeface="Merriweather"/>
                <a:cs typeface="Merriweather"/>
                <a:sym typeface="Merriweather"/>
              </a:rPr>
              <a:t>training</a:t>
            </a:r>
            <a:r>
              <a:rPr lang="en">
                <a:latin typeface="Merriweather"/>
                <a:ea typeface="Merriweather"/>
                <a:cs typeface="Merriweather"/>
                <a:sym typeface="Merriweather"/>
              </a:rPr>
              <a:t> set / 30% - testing set</a:t>
            </a:r>
            <a:endParaRPr>
              <a:latin typeface="Merriweather"/>
              <a:ea typeface="Merriweather"/>
              <a:cs typeface="Merriweather"/>
              <a:sym typeface="Merriweather"/>
            </a:endParaRPr>
          </a:p>
        </p:txBody>
      </p:sp>
      <p:sp>
        <p:nvSpPr>
          <p:cNvPr id="361" name="Google Shape;361;p4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362" name="Google Shape;362;p46"/>
          <p:cNvSpPr txBox="1"/>
          <p:nvPr/>
        </p:nvSpPr>
        <p:spPr>
          <a:xfrm>
            <a:off x="484500" y="1958275"/>
            <a:ext cx="3133200" cy="20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Merriweather"/>
                <a:ea typeface="Merriweather"/>
                <a:cs typeface="Merriweather"/>
                <a:sym typeface="Merriweather"/>
              </a:rPr>
              <a:t>Training set: </a:t>
            </a:r>
            <a:endParaRPr sz="1300">
              <a:solidFill>
                <a:schemeClr val="dk2"/>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dk2"/>
                </a:solidFill>
                <a:latin typeface="Merriweather"/>
                <a:ea typeface="Merriweather"/>
                <a:cs typeface="Merriweather"/>
                <a:sym typeface="Merriweather"/>
              </a:rPr>
              <a:t>Data before 2010’s ( ~ 2009)</a:t>
            </a:r>
            <a:endParaRPr sz="13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1300">
              <a:solidFill>
                <a:schemeClr val="dk2"/>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dk2"/>
                </a:solidFill>
                <a:latin typeface="Merriweather"/>
                <a:ea typeface="Merriweather"/>
                <a:cs typeface="Merriweather"/>
                <a:sym typeface="Merriweather"/>
              </a:rPr>
              <a:t>Testing set: </a:t>
            </a:r>
            <a:endParaRPr sz="1300">
              <a:solidFill>
                <a:schemeClr val="dk2"/>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dk2"/>
                </a:solidFill>
                <a:latin typeface="Merriweather"/>
                <a:ea typeface="Merriweather"/>
                <a:cs typeface="Merriweather"/>
                <a:sym typeface="Merriweather"/>
              </a:rPr>
              <a:t>Data of 2010’s (2010 ~ )</a:t>
            </a:r>
            <a:endParaRPr sz="13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13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1300">
              <a:solidFill>
                <a:schemeClr val="dk2"/>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dk2"/>
                </a:solidFill>
                <a:latin typeface="Merriweather"/>
                <a:ea typeface="Merriweather"/>
                <a:cs typeface="Merriweather"/>
                <a:sym typeface="Merriweather"/>
              </a:rPr>
              <a:t>Targeting</a:t>
            </a:r>
            <a:r>
              <a:rPr lang="en" sz="1300">
                <a:solidFill>
                  <a:schemeClr val="dk2"/>
                </a:solidFill>
                <a:latin typeface="Merriweather"/>
                <a:ea typeface="Merriweather"/>
                <a:cs typeface="Merriweather"/>
                <a:sym typeface="Merriweather"/>
              </a:rPr>
              <a:t>: </a:t>
            </a:r>
            <a:endParaRPr sz="1300">
              <a:solidFill>
                <a:schemeClr val="dk2"/>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dk2"/>
                </a:solidFill>
                <a:latin typeface="Merriweather"/>
                <a:ea typeface="Merriweather"/>
                <a:cs typeface="Merriweather"/>
                <a:sym typeface="Merriweather"/>
              </a:rPr>
              <a:t>Prediction of every revenue in 2010’s </a:t>
            </a:r>
            <a:endParaRPr sz="1300">
              <a:solidFill>
                <a:schemeClr val="dk2"/>
              </a:solidFill>
              <a:latin typeface="Merriweather"/>
              <a:ea typeface="Merriweather"/>
              <a:cs typeface="Merriweather"/>
              <a:sym typeface="Merriweather"/>
            </a:endParaRPr>
          </a:p>
        </p:txBody>
      </p:sp>
      <p:sp>
        <p:nvSpPr>
          <p:cNvPr id="363" name="Google Shape;363;p46"/>
          <p:cNvSpPr txBox="1"/>
          <p:nvPr/>
        </p:nvSpPr>
        <p:spPr>
          <a:xfrm>
            <a:off x="1585575" y="1510000"/>
            <a:ext cx="8052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Merriweather"/>
                <a:ea typeface="Merriweather"/>
                <a:cs typeface="Merriweather"/>
                <a:sym typeface="Merriweather"/>
              </a:rPr>
              <a:t>Case 1</a:t>
            </a:r>
            <a:endParaRPr sz="1600">
              <a:solidFill>
                <a:schemeClr val="dk2"/>
              </a:solidFill>
              <a:latin typeface="Merriweather"/>
              <a:ea typeface="Merriweather"/>
              <a:cs typeface="Merriweather"/>
              <a:sym typeface="Merriweather"/>
            </a:endParaRPr>
          </a:p>
        </p:txBody>
      </p:sp>
      <p:sp>
        <p:nvSpPr>
          <p:cNvPr id="364" name="Google Shape;364;p46"/>
          <p:cNvSpPr/>
          <p:nvPr/>
        </p:nvSpPr>
        <p:spPr>
          <a:xfrm>
            <a:off x="4801150" y="1321250"/>
            <a:ext cx="3594300" cy="2980800"/>
          </a:xfrm>
          <a:prstGeom prst="roundRect">
            <a:avLst>
              <a:gd fmla="val 16667" name="adj"/>
            </a:avLst>
          </a:prstGeom>
          <a:no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5" name="Google Shape;365;p46"/>
          <p:cNvSpPr txBox="1"/>
          <p:nvPr/>
        </p:nvSpPr>
        <p:spPr>
          <a:xfrm>
            <a:off x="4923300" y="1958275"/>
            <a:ext cx="3429000" cy="20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Merriweather"/>
                <a:ea typeface="Merriweather"/>
                <a:cs typeface="Merriweather"/>
                <a:sym typeface="Merriweather"/>
              </a:rPr>
              <a:t>Training set: </a:t>
            </a:r>
            <a:endParaRPr sz="1300">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lt1"/>
                </a:solidFill>
                <a:latin typeface="Merriweather"/>
                <a:ea typeface="Merriweather"/>
                <a:cs typeface="Merriweather"/>
                <a:sym typeface="Merriweather"/>
              </a:rPr>
              <a:t>Randomly selected 70% from whole data</a:t>
            </a:r>
            <a:endParaRPr sz="1300">
              <a:solidFill>
                <a:schemeClr val="lt1"/>
              </a:solidFill>
              <a:latin typeface="Merriweather"/>
              <a:ea typeface="Merriweather"/>
              <a:cs typeface="Merriweather"/>
              <a:sym typeface="Merriweather"/>
            </a:endParaRPr>
          </a:p>
          <a:p>
            <a:pPr indent="0" lvl="0" marL="0" rtl="0" algn="l">
              <a:spcBef>
                <a:spcPts val="0"/>
              </a:spcBef>
              <a:spcAft>
                <a:spcPts val="0"/>
              </a:spcAft>
              <a:buNone/>
            </a:pPr>
            <a:r>
              <a:t/>
            </a:r>
            <a:endParaRPr sz="1300">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lt1"/>
                </a:solidFill>
                <a:latin typeface="Merriweather"/>
                <a:ea typeface="Merriweather"/>
                <a:cs typeface="Merriweather"/>
                <a:sym typeface="Merriweather"/>
              </a:rPr>
              <a:t>Testing set: </a:t>
            </a:r>
            <a:endParaRPr sz="1300">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lt1"/>
                </a:solidFill>
                <a:latin typeface="Merriweather"/>
                <a:ea typeface="Merriweather"/>
                <a:cs typeface="Merriweather"/>
                <a:sym typeface="Merriweather"/>
              </a:rPr>
              <a:t>Rest 30% of whole data</a:t>
            </a:r>
            <a:endParaRPr sz="1300">
              <a:solidFill>
                <a:schemeClr val="lt1"/>
              </a:solidFill>
              <a:latin typeface="Merriweather"/>
              <a:ea typeface="Merriweather"/>
              <a:cs typeface="Merriweather"/>
              <a:sym typeface="Merriweather"/>
            </a:endParaRPr>
          </a:p>
          <a:p>
            <a:pPr indent="0" lvl="0" marL="0" rtl="0" algn="l">
              <a:spcBef>
                <a:spcPts val="0"/>
              </a:spcBef>
              <a:spcAft>
                <a:spcPts val="0"/>
              </a:spcAft>
              <a:buNone/>
            </a:pPr>
            <a:r>
              <a:t/>
            </a:r>
            <a:endParaRPr sz="1300">
              <a:solidFill>
                <a:schemeClr val="lt1"/>
              </a:solidFill>
              <a:latin typeface="Merriweather"/>
              <a:ea typeface="Merriweather"/>
              <a:cs typeface="Merriweather"/>
              <a:sym typeface="Merriweather"/>
            </a:endParaRPr>
          </a:p>
          <a:p>
            <a:pPr indent="0" lvl="0" marL="0" rtl="0" algn="l">
              <a:spcBef>
                <a:spcPts val="0"/>
              </a:spcBef>
              <a:spcAft>
                <a:spcPts val="0"/>
              </a:spcAft>
              <a:buNone/>
            </a:pPr>
            <a:r>
              <a:t/>
            </a:r>
            <a:endParaRPr sz="1300">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lt1"/>
                </a:solidFill>
                <a:latin typeface="Merriweather"/>
                <a:ea typeface="Merriweather"/>
                <a:cs typeface="Merriweather"/>
                <a:sym typeface="Merriweather"/>
              </a:rPr>
              <a:t>Targeting: </a:t>
            </a:r>
            <a:endParaRPr sz="1300">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en" sz="1300">
                <a:solidFill>
                  <a:schemeClr val="lt1"/>
                </a:solidFill>
                <a:latin typeface="Merriweather"/>
                <a:ea typeface="Merriweather"/>
                <a:cs typeface="Merriweather"/>
                <a:sym typeface="Merriweather"/>
              </a:rPr>
              <a:t>Prediction of every revenue in randomly selected data</a:t>
            </a:r>
            <a:endParaRPr sz="1300">
              <a:solidFill>
                <a:schemeClr val="dk2"/>
              </a:solidFill>
              <a:latin typeface="Merriweather"/>
              <a:ea typeface="Merriweather"/>
              <a:cs typeface="Merriweather"/>
              <a:sym typeface="Merriweather"/>
            </a:endParaRPr>
          </a:p>
        </p:txBody>
      </p:sp>
      <p:sp>
        <p:nvSpPr>
          <p:cNvPr id="366" name="Google Shape;366;p46"/>
          <p:cNvSpPr txBox="1"/>
          <p:nvPr/>
        </p:nvSpPr>
        <p:spPr>
          <a:xfrm>
            <a:off x="5430375" y="1510000"/>
            <a:ext cx="25317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Merriweather"/>
                <a:ea typeface="Merriweather"/>
                <a:cs typeface="Merriweather"/>
                <a:sym typeface="Merriweather"/>
              </a:rPr>
              <a:t>Case 2(Cross Validation)</a:t>
            </a:r>
            <a:endParaRPr sz="1600">
              <a:solidFill>
                <a:schemeClr val="lt1"/>
              </a:solidFill>
              <a:latin typeface="Merriweather"/>
              <a:ea typeface="Merriweather"/>
              <a:cs typeface="Merriweather"/>
              <a:sym typeface="Merriweath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7"/>
          <p:cNvSpPr/>
          <p:nvPr/>
        </p:nvSpPr>
        <p:spPr>
          <a:xfrm>
            <a:off x="245800" y="1340800"/>
            <a:ext cx="3794700" cy="3150000"/>
          </a:xfrm>
          <a:prstGeom prst="roundRect">
            <a:avLst>
              <a:gd fmla="val 16667" name="adj"/>
            </a:avLst>
          </a:prstGeom>
          <a:no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2" name="Google Shape;372;p47"/>
          <p:cNvSpPr/>
          <p:nvPr/>
        </p:nvSpPr>
        <p:spPr>
          <a:xfrm>
            <a:off x="4648025" y="1340800"/>
            <a:ext cx="4167000" cy="3150000"/>
          </a:xfrm>
          <a:prstGeom prst="roundRect">
            <a:avLst>
              <a:gd fmla="val 16667" name="adj"/>
            </a:avLst>
          </a:prstGeom>
          <a:no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3" name="Google Shape;373;p47"/>
          <p:cNvSpPr txBox="1"/>
          <p:nvPr>
            <p:ph type="title"/>
          </p:nvPr>
        </p:nvSpPr>
        <p:spPr>
          <a:xfrm>
            <a:off x="241050" y="236075"/>
            <a:ext cx="3632700" cy="507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50"/>
              <a:t>2 distributions of data</a:t>
            </a:r>
            <a:endParaRPr sz="2350"/>
          </a:p>
        </p:txBody>
      </p:sp>
      <p:sp>
        <p:nvSpPr>
          <p:cNvPr id="374" name="Google Shape;374;p4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375" name="Google Shape;375;p47"/>
          <p:cNvSpPr txBox="1"/>
          <p:nvPr/>
        </p:nvSpPr>
        <p:spPr>
          <a:xfrm>
            <a:off x="444425" y="1459675"/>
            <a:ext cx="3632700" cy="1903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100">
                <a:solidFill>
                  <a:schemeClr val="dk2"/>
                </a:solidFill>
                <a:latin typeface="Merriweather"/>
                <a:ea typeface="Merriweather"/>
                <a:cs typeface="Merriweather"/>
                <a:sym typeface="Merriweather"/>
              </a:rPr>
              <a:t>Variables used in training &amp; testing:</a:t>
            </a:r>
            <a:endParaRPr sz="11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L</a:t>
            </a:r>
            <a:r>
              <a:rPr lang="en" sz="1000">
                <a:solidFill>
                  <a:schemeClr val="dk2"/>
                </a:solidFill>
                <a:latin typeface="Merriweather"/>
                <a:ea typeface="Merriweather"/>
                <a:cs typeface="Merriweather"/>
                <a:sym typeface="Merriweather"/>
              </a:rPr>
              <a:t>og Budget</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Popularity</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Vote count</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Number of Crews</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Log Mean revenue per Country</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Log Mean revenue per production company</a:t>
            </a:r>
            <a:endParaRPr sz="1000">
              <a:solidFill>
                <a:schemeClr val="dk2"/>
              </a:solidFill>
              <a:latin typeface="Merriweather"/>
              <a:ea typeface="Merriweather"/>
              <a:cs typeface="Merriweather"/>
              <a:sym typeface="Merriweather"/>
            </a:endParaRPr>
          </a:p>
        </p:txBody>
      </p:sp>
      <p:sp>
        <p:nvSpPr>
          <p:cNvPr id="376" name="Google Shape;376;p47"/>
          <p:cNvSpPr txBox="1"/>
          <p:nvPr/>
        </p:nvSpPr>
        <p:spPr>
          <a:xfrm>
            <a:off x="444425" y="3457250"/>
            <a:ext cx="3484500" cy="873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100">
                <a:solidFill>
                  <a:schemeClr val="dk2"/>
                </a:solidFill>
                <a:latin typeface="Merriweather"/>
                <a:ea typeface="Merriweather"/>
                <a:cs typeface="Merriweather"/>
                <a:sym typeface="Merriweather"/>
              </a:rPr>
              <a:t>Variables used for visualization of results:</a:t>
            </a:r>
            <a:endParaRPr sz="11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Log Budget (X-axis)</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Log Revenue (Y-axis)</a:t>
            </a:r>
            <a:endParaRPr sz="1000">
              <a:solidFill>
                <a:schemeClr val="dk2"/>
              </a:solidFill>
              <a:latin typeface="Merriweather"/>
              <a:ea typeface="Merriweather"/>
              <a:cs typeface="Merriweather"/>
              <a:sym typeface="Merriweather"/>
            </a:endParaRPr>
          </a:p>
        </p:txBody>
      </p:sp>
      <p:sp>
        <p:nvSpPr>
          <p:cNvPr id="377" name="Google Shape;377;p47"/>
          <p:cNvSpPr txBox="1"/>
          <p:nvPr/>
        </p:nvSpPr>
        <p:spPr>
          <a:xfrm>
            <a:off x="4887775" y="1549350"/>
            <a:ext cx="3794700" cy="2579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000">
                <a:solidFill>
                  <a:schemeClr val="lt1"/>
                </a:solidFill>
                <a:latin typeface="Merriweather"/>
                <a:ea typeface="Merriweather"/>
                <a:cs typeface="Merriweather"/>
                <a:sym typeface="Merriweather"/>
              </a:rPr>
              <a:t>* Budget was used as x-axis prediction because the RSE difference between models using budget and vote_count was minimal (around 0.0xx), suggesting similar predictive performance. </a:t>
            </a:r>
            <a:endParaRPr sz="1000">
              <a:solidFill>
                <a:schemeClr val="lt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000">
              <a:solidFill>
                <a:schemeClr val="lt1"/>
              </a:solidFill>
              <a:latin typeface="Merriweather"/>
              <a:ea typeface="Merriweather"/>
              <a:cs typeface="Merriweather"/>
              <a:sym typeface="Merriweather"/>
            </a:endParaRPr>
          </a:p>
          <a:p>
            <a:pPr indent="0" lvl="0" marL="0" rtl="0" algn="l">
              <a:lnSpc>
                <a:spcPct val="150000"/>
              </a:lnSpc>
              <a:spcBef>
                <a:spcPts val="0"/>
              </a:spcBef>
              <a:spcAft>
                <a:spcPts val="0"/>
              </a:spcAft>
              <a:buNone/>
            </a:pPr>
            <a:r>
              <a:rPr lang="en" sz="1000">
                <a:solidFill>
                  <a:schemeClr val="lt1"/>
                </a:solidFill>
                <a:latin typeface="Merriweather"/>
                <a:ea typeface="Merriweather"/>
                <a:cs typeface="Merriweather"/>
                <a:sym typeface="Merriweather"/>
              </a:rPr>
              <a:t>* Although vote_count has a higher correlation, budget still works well as it captures multiple underlying aspects of a film’s production.</a:t>
            </a:r>
            <a:endParaRPr sz="1000">
              <a:solidFill>
                <a:schemeClr val="lt1"/>
              </a:solidFill>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000">
              <a:solidFill>
                <a:schemeClr val="lt1"/>
              </a:solidFill>
              <a:latin typeface="Merriweather"/>
              <a:ea typeface="Merriweather"/>
              <a:cs typeface="Merriweather"/>
              <a:sym typeface="Merriweather"/>
            </a:endParaRPr>
          </a:p>
          <a:p>
            <a:pPr indent="0" lvl="0" marL="0" rtl="0" algn="l">
              <a:lnSpc>
                <a:spcPct val="150000"/>
              </a:lnSpc>
              <a:spcBef>
                <a:spcPts val="0"/>
              </a:spcBef>
              <a:spcAft>
                <a:spcPts val="0"/>
              </a:spcAft>
              <a:buNone/>
            </a:pPr>
            <a:r>
              <a:rPr lang="en" sz="1000">
                <a:solidFill>
                  <a:schemeClr val="lt1"/>
                </a:solidFill>
                <a:latin typeface="Merriweather"/>
                <a:ea typeface="Merriweather"/>
                <a:cs typeface="Merriweather"/>
                <a:sym typeface="Merriweather"/>
              </a:rPr>
              <a:t>* Log transformation was applied to both revenue and budget for scale reduction.</a:t>
            </a:r>
            <a:endParaRPr sz="1000">
              <a:solidFill>
                <a:schemeClr val="lt1"/>
              </a:solidFill>
              <a:latin typeface="Merriweather"/>
              <a:ea typeface="Merriweather"/>
              <a:cs typeface="Merriweather"/>
              <a:sym typeface="Merriweath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8"/>
          <p:cNvSpPr txBox="1"/>
          <p:nvPr>
            <p:ph type="title"/>
          </p:nvPr>
        </p:nvSpPr>
        <p:spPr>
          <a:xfrm>
            <a:off x="197375" y="1620100"/>
            <a:ext cx="3978900" cy="53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50"/>
              <a:t>Simple Linear Regression</a:t>
            </a:r>
            <a:endParaRPr sz="2350"/>
          </a:p>
        </p:txBody>
      </p:sp>
      <p:sp>
        <p:nvSpPr>
          <p:cNvPr id="383" name="Google Shape;383;p48"/>
          <p:cNvSpPr txBox="1"/>
          <p:nvPr>
            <p:ph idx="1" type="body"/>
          </p:nvPr>
        </p:nvSpPr>
        <p:spPr>
          <a:xfrm>
            <a:off x="252425" y="2300275"/>
            <a:ext cx="3868800" cy="182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a:t>RSE using the training data: 1.5531</a:t>
            </a:r>
            <a:endParaRPr/>
          </a:p>
          <a:p>
            <a:pPr indent="0" lvl="0" marL="0" rtl="0" algn="l">
              <a:spcBef>
                <a:spcPts val="1200"/>
              </a:spcBef>
              <a:spcAft>
                <a:spcPts val="0"/>
              </a:spcAft>
              <a:buClr>
                <a:schemeClr val="accent3"/>
              </a:buClr>
              <a:buSzPts val="1100"/>
              <a:buFont typeface="Arial"/>
              <a:buNone/>
            </a:pPr>
            <a:r>
              <a:rPr lang="en"/>
              <a:t>RSE using the testing data: 1.5123</a:t>
            </a:r>
            <a:endParaRPr/>
          </a:p>
          <a:p>
            <a:pPr indent="0" lvl="0" marL="0" rtl="0" algn="l">
              <a:spcBef>
                <a:spcPts val="1200"/>
              </a:spcBef>
              <a:spcAft>
                <a:spcPts val="0"/>
              </a:spcAft>
              <a:buClr>
                <a:schemeClr val="accent3"/>
              </a:buClr>
              <a:buSzPts val="1100"/>
              <a:buFont typeface="Arial"/>
              <a:buNone/>
            </a:pPr>
            <a:r>
              <a:rPr lang="en"/>
              <a:t>Since the model follows a linear form y = ax + b, it is visually clear that the predicted values differ noticeably from the actual values.</a:t>
            </a:r>
            <a:endParaRPr/>
          </a:p>
          <a:p>
            <a:pPr indent="0" lvl="0" marL="0" rtl="0" algn="l">
              <a:spcBef>
                <a:spcPts val="1200"/>
              </a:spcBef>
              <a:spcAft>
                <a:spcPts val="0"/>
              </a:spcAft>
              <a:buClr>
                <a:schemeClr val="accent3"/>
              </a:buClr>
              <a:buSzPts val="1100"/>
              <a:buFont typeface="Arial"/>
              <a:buNone/>
            </a:pPr>
            <a:r>
              <a:rPr lang="en"/>
              <a:t>Revenue cannot be predicted accurately by only a single feature like budget. </a:t>
            </a:r>
            <a:endParaRPr/>
          </a:p>
          <a:p>
            <a:pPr indent="0" lvl="0" marL="0" rtl="0" algn="l">
              <a:spcBef>
                <a:spcPts val="1200"/>
              </a:spcBef>
              <a:spcAft>
                <a:spcPts val="1200"/>
              </a:spcAft>
              <a:buClr>
                <a:schemeClr val="accent3"/>
              </a:buClr>
              <a:buSzPts val="1100"/>
              <a:buFont typeface="Arial"/>
              <a:buNone/>
            </a:pPr>
            <a:r>
              <a:t/>
            </a:r>
            <a:endParaRPr/>
          </a:p>
        </p:txBody>
      </p:sp>
      <p:sp>
        <p:nvSpPr>
          <p:cNvPr id="384" name="Google Shape;384;p48"/>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Used Models</a:t>
            </a:r>
            <a:endParaRPr/>
          </a:p>
        </p:txBody>
      </p:sp>
      <p:sp>
        <p:nvSpPr>
          <p:cNvPr id="385" name="Google Shape;385;p4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386" name="Google Shape;386;p48"/>
          <p:cNvSpPr txBox="1"/>
          <p:nvPr/>
        </p:nvSpPr>
        <p:spPr>
          <a:xfrm>
            <a:off x="1617000" y="983100"/>
            <a:ext cx="11043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Merriweather"/>
                <a:ea typeface="Merriweather"/>
                <a:cs typeface="Merriweather"/>
                <a:sym typeface="Merriweather"/>
              </a:rPr>
              <a:t>Case 1</a:t>
            </a:r>
            <a:endParaRPr sz="2100">
              <a:solidFill>
                <a:schemeClr val="dk2"/>
              </a:solidFill>
              <a:latin typeface="Merriweather"/>
              <a:ea typeface="Merriweather"/>
              <a:cs typeface="Merriweather"/>
              <a:sym typeface="Merriweather"/>
            </a:endParaRPr>
          </a:p>
        </p:txBody>
      </p:sp>
      <p:pic>
        <p:nvPicPr>
          <p:cNvPr id="387" name="Google Shape;387;p48" title="Screenshot 2025-11-30 at 12.22.14 AM.png"/>
          <p:cNvPicPr preferRelativeResize="0"/>
          <p:nvPr/>
        </p:nvPicPr>
        <p:blipFill>
          <a:blip r:embed="rId3">
            <a:alphaModFix/>
          </a:blip>
          <a:stretch>
            <a:fillRect/>
          </a:stretch>
        </p:blipFill>
        <p:spPr>
          <a:xfrm>
            <a:off x="4607825" y="1398924"/>
            <a:ext cx="4202875" cy="2345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3" name="Google Shape;393;p49"/>
          <p:cNvSpPr txBox="1"/>
          <p:nvPr>
            <p:ph type="title"/>
          </p:nvPr>
        </p:nvSpPr>
        <p:spPr>
          <a:xfrm>
            <a:off x="147409" y="1643734"/>
            <a:ext cx="4106400" cy="49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50"/>
              <a:t>Multiple Linear Regression</a:t>
            </a:r>
            <a:endParaRPr sz="2250"/>
          </a:p>
        </p:txBody>
      </p:sp>
      <p:sp>
        <p:nvSpPr>
          <p:cNvPr id="394" name="Google Shape;394;p49"/>
          <p:cNvSpPr txBox="1"/>
          <p:nvPr>
            <p:ph idx="1" type="body"/>
          </p:nvPr>
        </p:nvSpPr>
        <p:spPr>
          <a:xfrm>
            <a:off x="207250" y="2402450"/>
            <a:ext cx="39867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a:t>RSE using the training data: 1.1953</a:t>
            </a:r>
            <a:endParaRPr/>
          </a:p>
          <a:p>
            <a:pPr indent="0" lvl="0" marL="0" rtl="0" algn="l">
              <a:spcBef>
                <a:spcPts val="1200"/>
              </a:spcBef>
              <a:spcAft>
                <a:spcPts val="0"/>
              </a:spcAft>
              <a:buClr>
                <a:schemeClr val="accent3"/>
              </a:buClr>
              <a:buSzPts val="1100"/>
              <a:buFont typeface="Arial"/>
              <a:buNone/>
            </a:pPr>
            <a:r>
              <a:rPr lang="en"/>
              <a:t>RSE using the testing data: 1.4588</a:t>
            </a:r>
            <a:endParaRPr/>
          </a:p>
          <a:p>
            <a:pPr indent="0" lvl="0" marL="0" rtl="0" algn="l">
              <a:spcBef>
                <a:spcPts val="1200"/>
              </a:spcBef>
              <a:spcAft>
                <a:spcPts val="0"/>
              </a:spcAft>
              <a:buClr>
                <a:schemeClr val="accent3"/>
              </a:buClr>
              <a:buSzPts val="1100"/>
              <a:buFont typeface="Arial"/>
              <a:buNone/>
            </a:pPr>
            <a:r>
              <a:rPr lang="en"/>
              <a:t>The RSE of the testing data is higher than that of the training data.</a:t>
            </a:r>
            <a:endParaRPr/>
          </a:p>
          <a:p>
            <a:pPr indent="0" lvl="0" marL="0" rtl="0" algn="l">
              <a:spcBef>
                <a:spcPts val="1200"/>
              </a:spcBef>
              <a:spcAft>
                <a:spcPts val="0"/>
              </a:spcAft>
              <a:buClr>
                <a:schemeClr val="accent3"/>
              </a:buClr>
              <a:buSzPts val="1100"/>
              <a:buFont typeface="Arial"/>
              <a:buNone/>
            </a:pPr>
            <a:r>
              <a:rPr lang="en"/>
              <a:t>This indicates that the movie industry changed after 2010, meaning that a model trained only on movies released before 2010 cannot fully capture the revenue patterns of movies released after 2010.</a:t>
            </a:r>
            <a:endParaRPr/>
          </a:p>
          <a:p>
            <a:pPr indent="0" lvl="0" marL="0" rtl="0" algn="l">
              <a:spcBef>
                <a:spcPts val="1200"/>
              </a:spcBef>
              <a:spcAft>
                <a:spcPts val="1200"/>
              </a:spcAft>
              <a:buClr>
                <a:schemeClr val="accent3"/>
              </a:buClr>
              <a:buSzPts val="1100"/>
              <a:buFont typeface="Arial"/>
              <a:buNone/>
            </a:pPr>
            <a:r>
              <a:t/>
            </a:r>
            <a:endParaRPr/>
          </a:p>
        </p:txBody>
      </p:sp>
      <p:sp>
        <p:nvSpPr>
          <p:cNvPr id="395" name="Google Shape;395;p4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396" name="Google Shape;396;p49"/>
          <p:cNvSpPr txBox="1"/>
          <p:nvPr>
            <p:ph idx="2" type="body"/>
          </p:nvPr>
        </p:nvSpPr>
        <p:spPr>
          <a:xfrm>
            <a:off x="199922" y="199696"/>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Used Models</a:t>
            </a:r>
            <a:endParaRPr/>
          </a:p>
        </p:txBody>
      </p:sp>
      <p:sp>
        <p:nvSpPr>
          <p:cNvPr id="397" name="Google Shape;397;p49"/>
          <p:cNvSpPr txBox="1"/>
          <p:nvPr/>
        </p:nvSpPr>
        <p:spPr>
          <a:xfrm>
            <a:off x="1617000" y="983100"/>
            <a:ext cx="11043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Merriweather"/>
                <a:ea typeface="Merriweather"/>
                <a:cs typeface="Merriweather"/>
                <a:sym typeface="Merriweather"/>
              </a:rPr>
              <a:t>Case 1</a:t>
            </a:r>
            <a:endParaRPr sz="2100">
              <a:solidFill>
                <a:schemeClr val="dk2"/>
              </a:solidFill>
              <a:latin typeface="Merriweather"/>
              <a:ea typeface="Merriweather"/>
              <a:cs typeface="Merriweather"/>
              <a:sym typeface="Merriweather"/>
            </a:endParaRPr>
          </a:p>
        </p:txBody>
      </p:sp>
      <p:sp>
        <p:nvSpPr>
          <p:cNvPr id="398" name="Google Shape;398;p49"/>
          <p:cNvSpPr txBox="1"/>
          <p:nvPr>
            <p:ph idx="1" type="body"/>
          </p:nvPr>
        </p:nvSpPr>
        <p:spPr>
          <a:xfrm>
            <a:off x="4801225" y="1902125"/>
            <a:ext cx="3868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accent3"/>
              </a:buClr>
              <a:buSzPts val="1100"/>
              <a:buFont typeface="Arial"/>
              <a:buNone/>
            </a:pPr>
            <a:r>
              <a:rPr lang="en">
                <a:solidFill>
                  <a:srgbClr val="EEEEEE"/>
                </a:solidFill>
              </a:rPr>
              <a:t>그래프 넣기</a:t>
            </a:r>
            <a:endParaRPr>
              <a:solidFill>
                <a:srgbClr val="EEEEEE"/>
              </a:solidFill>
            </a:endParaRPr>
          </a:p>
        </p:txBody>
      </p:sp>
      <p:pic>
        <p:nvPicPr>
          <p:cNvPr id="399" name="Google Shape;399;p49" title="Screenshot 2025-11-30 at 12.22.47 AM.png"/>
          <p:cNvPicPr preferRelativeResize="0"/>
          <p:nvPr/>
        </p:nvPicPr>
        <p:blipFill>
          <a:blip r:embed="rId3">
            <a:alphaModFix/>
          </a:blip>
          <a:stretch>
            <a:fillRect/>
          </a:stretch>
        </p:blipFill>
        <p:spPr>
          <a:xfrm>
            <a:off x="4424438" y="1376400"/>
            <a:ext cx="4622370" cy="2648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50"/>
          <p:cNvSpPr txBox="1"/>
          <p:nvPr>
            <p:ph type="title"/>
          </p:nvPr>
        </p:nvSpPr>
        <p:spPr>
          <a:xfrm>
            <a:off x="112900" y="1376400"/>
            <a:ext cx="4175400" cy="530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50"/>
              <a:t>Polynomial (Ridge) </a:t>
            </a:r>
            <a:r>
              <a:rPr lang="en" sz="2050"/>
              <a:t>Regression</a:t>
            </a:r>
            <a:endParaRPr sz="2050"/>
          </a:p>
        </p:txBody>
      </p:sp>
      <p:sp>
        <p:nvSpPr>
          <p:cNvPr id="406" name="Google Shape;406;p50"/>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407" name="Google Shape;407;p50"/>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Used Models</a:t>
            </a:r>
            <a:endParaRPr/>
          </a:p>
        </p:txBody>
      </p:sp>
      <p:sp>
        <p:nvSpPr>
          <p:cNvPr id="408" name="Google Shape;408;p50"/>
          <p:cNvSpPr txBox="1"/>
          <p:nvPr/>
        </p:nvSpPr>
        <p:spPr>
          <a:xfrm>
            <a:off x="1617000" y="796663"/>
            <a:ext cx="11043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Merriweather"/>
                <a:ea typeface="Merriweather"/>
                <a:cs typeface="Merriweather"/>
                <a:sym typeface="Merriweather"/>
              </a:rPr>
              <a:t>Case 1</a:t>
            </a:r>
            <a:endParaRPr sz="2100">
              <a:solidFill>
                <a:schemeClr val="dk2"/>
              </a:solidFill>
              <a:latin typeface="Merriweather"/>
              <a:ea typeface="Merriweather"/>
              <a:cs typeface="Merriweather"/>
              <a:sym typeface="Merriweather"/>
            </a:endParaRPr>
          </a:p>
        </p:txBody>
      </p:sp>
      <p:sp>
        <p:nvSpPr>
          <p:cNvPr id="409" name="Google Shape;409;p50"/>
          <p:cNvSpPr txBox="1"/>
          <p:nvPr>
            <p:ph idx="1" type="body"/>
          </p:nvPr>
        </p:nvSpPr>
        <p:spPr>
          <a:xfrm>
            <a:off x="207250" y="2093525"/>
            <a:ext cx="3986700" cy="285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a:t>RSE using the training data: 1.0803</a:t>
            </a:r>
            <a:endParaRPr/>
          </a:p>
          <a:p>
            <a:pPr indent="0" lvl="0" marL="0" rtl="0" algn="l">
              <a:spcBef>
                <a:spcPts val="1200"/>
              </a:spcBef>
              <a:spcAft>
                <a:spcPts val="0"/>
              </a:spcAft>
              <a:buClr>
                <a:schemeClr val="accent3"/>
              </a:buClr>
              <a:buSzPts val="1100"/>
              <a:buFont typeface="Arial"/>
              <a:buNone/>
            </a:pPr>
            <a:r>
              <a:rPr lang="en"/>
              <a:t>RSE using the testing data: 1.9158</a:t>
            </a:r>
            <a:endParaRPr/>
          </a:p>
          <a:p>
            <a:pPr indent="0" lvl="0" marL="0" rtl="0" algn="l">
              <a:spcBef>
                <a:spcPts val="1200"/>
              </a:spcBef>
              <a:spcAft>
                <a:spcPts val="0"/>
              </a:spcAft>
              <a:buClr>
                <a:schemeClr val="accent3"/>
              </a:buClr>
              <a:buSzPts val="1100"/>
              <a:buFont typeface="Arial"/>
              <a:buNone/>
            </a:pPr>
            <a:r>
              <a:rPr lang="en"/>
              <a:t>The RSE of the testing data turned out to be higher than the RSE of the training data. </a:t>
            </a:r>
            <a:endParaRPr/>
          </a:p>
          <a:p>
            <a:pPr indent="0" lvl="0" marL="0" rtl="0" algn="l">
              <a:spcBef>
                <a:spcPts val="1200"/>
              </a:spcBef>
              <a:spcAft>
                <a:spcPts val="0"/>
              </a:spcAft>
              <a:buClr>
                <a:schemeClr val="accent3"/>
              </a:buClr>
              <a:buSzPts val="1100"/>
              <a:buFont typeface="Arial"/>
              <a:buNone/>
            </a:pPr>
            <a:r>
              <a:rPr lang="en"/>
              <a:t>Similar to the results from multiple linear regression, the model does not capture  the changed  tendency of movies released after 2010.</a:t>
            </a:r>
            <a:endParaRPr/>
          </a:p>
          <a:p>
            <a:pPr indent="0" lvl="0" marL="0" rtl="0" algn="l">
              <a:spcBef>
                <a:spcPts val="1200"/>
              </a:spcBef>
              <a:spcAft>
                <a:spcPts val="0"/>
              </a:spcAft>
              <a:buClr>
                <a:schemeClr val="accent3"/>
              </a:buClr>
              <a:buSzPts val="1100"/>
              <a:buFont typeface="Arial"/>
              <a:buNone/>
            </a:pPr>
            <a:r>
              <a:rPr lang="en"/>
              <a:t>The gap between the RSE of training and testing data becomes larger when compared to the RSEs from the multiple linear regression model. </a:t>
            </a:r>
            <a:endParaRPr/>
          </a:p>
          <a:p>
            <a:pPr indent="0" lvl="0" marL="0" rtl="0" algn="l">
              <a:spcBef>
                <a:spcPts val="1200"/>
              </a:spcBef>
              <a:spcAft>
                <a:spcPts val="0"/>
              </a:spcAft>
              <a:buClr>
                <a:schemeClr val="accent3"/>
              </a:buClr>
              <a:buSzPts val="1100"/>
              <a:buFont typeface="Arial"/>
              <a:buNone/>
            </a:pPr>
            <a:r>
              <a:rPr lang="en"/>
              <a:t>This model is more complex, which increases the risk of overfitting, resulting in high variance on the testing data.</a:t>
            </a:r>
            <a:endParaRPr/>
          </a:p>
          <a:p>
            <a:pPr indent="0" lvl="0" marL="0" rtl="0" algn="l">
              <a:spcBef>
                <a:spcPts val="1200"/>
              </a:spcBef>
              <a:spcAft>
                <a:spcPts val="1200"/>
              </a:spcAft>
              <a:buClr>
                <a:schemeClr val="accent3"/>
              </a:buClr>
              <a:buSzPts val="1100"/>
              <a:buFont typeface="Arial"/>
              <a:buNone/>
            </a:pPr>
            <a:r>
              <a:t/>
            </a:r>
            <a:endParaRPr/>
          </a:p>
        </p:txBody>
      </p:sp>
      <p:pic>
        <p:nvPicPr>
          <p:cNvPr id="410" name="Google Shape;410;p50" title="Screenshot 2025-11-30 at 12.23.14 AM.png"/>
          <p:cNvPicPr preferRelativeResize="0"/>
          <p:nvPr/>
        </p:nvPicPr>
        <p:blipFill rotWithShape="1">
          <a:blip r:embed="rId3">
            <a:alphaModFix/>
          </a:blip>
          <a:srcRect b="0" l="-1700" r="1699" t="0"/>
          <a:stretch/>
        </p:blipFill>
        <p:spPr>
          <a:xfrm>
            <a:off x="4317725" y="1376397"/>
            <a:ext cx="4703299" cy="25927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1"/>
          <p:cNvSpPr txBox="1"/>
          <p:nvPr>
            <p:ph type="title"/>
          </p:nvPr>
        </p:nvSpPr>
        <p:spPr>
          <a:xfrm>
            <a:off x="197375" y="1620100"/>
            <a:ext cx="3978900" cy="53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50"/>
              <a:t>Simple Linear Regression</a:t>
            </a:r>
            <a:endParaRPr sz="2350"/>
          </a:p>
        </p:txBody>
      </p:sp>
      <p:sp>
        <p:nvSpPr>
          <p:cNvPr id="416" name="Google Shape;416;p51"/>
          <p:cNvSpPr txBox="1"/>
          <p:nvPr>
            <p:ph idx="1" type="body"/>
          </p:nvPr>
        </p:nvSpPr>
        <p:spPr>
          <a:xfrm>
            <a:off x="252425" y="2300275"/>
            <a:ext cx="3868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a:t>RSE using the training data: 1.5715</a:t>
            </a:r>
            <a:endParaRPr/>
          </a:p>
          <a:p>
            <a:pPr indent="0" lvl="0" marL="0" rtl="0" algn="l">
              <a:spcBef>
                <a:spcPts val="1200"/>
              </a:spcBef>
              <a:spcAft>
                <a:spcPts val="0"/>
              </a:spcAft>
              <a:buClr>
                <a:schemeClr val="accent3"/>
              </a:buClr>
              <a:buSzPts val="1100"/>
              <a:buFont typeface="Arial"/>
              <a:buNone/>
            </a:pPr>
            <a:r>
              <a:rPr lang="en"/>
              <a:t>RSE using the testing data: 1.4723</a:t>
            </a:r>
            <a:endParaRPr/>
          </a:p>
          <a:p>
            <a:pPr indent="0" lvl="0" marL="0" rtl="0" algn="l">
              <a:spcBef>
                <a:spcPts val="1200"/>
              </a:spcBef>
              <a:spcAft>
                <a:spcPts val="0"/>
              </a:spcAft>
              <a:buClr>
                <a:schemeClr val="accent3"/>
              </a:buClr>
              <a:buSzPts val="1100"/>
              <a:buFont typeface="Arial"/>
              <a:buNone/>
            </a:pPr>
            <a:r>
              <a:rPr lang="en"/>
              <a:t>The result is similar from the result of the simple linear regression model in Case 1.</a:t>
            </a:r>
            <a:endParaRPr/>
          </a:p>
          <a:p>
            <a:pPr indent="0" lvl="0" marL="0" rtl="0" algn="l">
              <a:spcBef>
                <a:spcPts val="1200"/>
              </a:spcBef>
              <a:spcAft>
                <a:spcPts val="0"/>
              </a:spcAft>
              <a:buClr>
                <a:schemeClr val="accent3"/>
              </a:buClr>
              <a:buSzPts val="1100"/>
              <a:buFont typeface="Arial"/>
              <a:buNone/>
            </a:pPr>
            <a:r>
              <a:rPr lang="en"/>
              <a:t>Since this is a linear model, it is clear that the actual and expected revenue have noticeable gaps.</a:t>
            </a:r>
            <a:endParaRPr/>
          </a:p>
          <a:p>
            <a:pPr indent="0" lvl="0" marL="0" rtl="0" algn="l">
              <a:spcBef>
                <a:spcPts val="1200"/>
              </a:spcBef>
              <a:spcAft>
                <a:spcPts val="0"/>
              </a:spcAft>
              <a:buClr>
                <a:schemeClr val="accent3"/>
              </a:buClr>
              <a:buSzPts val="1100"/>
              <a:buFont typeface="Arial"/>
              <a:buNone/>
            </a:pPr>
            <a:r>
              <a:t/>
            </a:r>
            <a:endParaRPr/>
          </a:p>
          <a:p>
            <a:pPr indent="0" lvl="0" marL="0" rtl="0" algn="l">
              <a:spcBef>
                <a:spcPts val="1200"/>
              </a:spcBef>
              <a:spcAft>
                <a:spcPts val="0"/>
              </a:spcAft>
              <a:buClr>
                <a:schemeClr val="accent3"/>
              </a:buClr>
              <a:buSzPts val="1100"/>
              <a:buFont typeface="Arial"/>
              <a:buNone/>
            </a:pPr>
            <a:r>
              <a:t/>
            </a:r>
            <a:endParaRPr/>
          </a:p>
          <a:p>
            <a:pPr indent="0" lvl="0" marL="0" rtl="0" algn="l">
              <a:spcBef>
                <a:spcPts val="1200"/>
              </a:spcBef>
              <a:spcAft>
                <a:spcPts val="1200"/>
              </a:spcAft>
              <a:buClr>
                <a:schemeClr val="accent3"/>
              </a:buClr>
              <a:buSzPts val="1100"/>
              <a:buFont typeface="Arial"/>
              <a:buNone/>
            </a:pPr>
            <a:r>
              <a:t/>
            </a:r>
            <a:endParaRPr/>
          </a:p>
        </p:txBody>
      </p:sp>
      <p:sp>
        <p:nvSpPr>
          <p:cNvPr id="417" name="Google Shape;417;p5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Used Models</a:t>
            </a:r>
            <a:endParaRPr/>
          </a:p>
        </p:txBody>
      </p:sp>
      <p:sp>
        <p:nvSpPr>
          <p:cNvPr id="418" name="Google Shape;418;p5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419" name="Google Shape;419;p51"/>
          <p:cNvSpPr txBox="1"/>
          <p:nvPr>
            <p:ph idx="1" type="body"/>
          </p:nvPr>
        </p:nvSpPr>
        <p:spPr>
          <a:xfrm>
            <a:off x="4801225" y="1902125"/>
            <a:ext cx="3868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accent3"/>
              </a:buClr>
              <a:buSzPts val="1100"/>
              <a:buFont typeface="Arial"/>
              <a:buNone/>
            </a:pPr>
            <a:r>
              <a:rPr lang="en">
                <a:solidFill>
                  <a:srgbClr val="EEEEEE"/>
                </a:solidFill>
              </a:rPr>
              <a:t>그래프 넣기</a:t>
            </a:r>
            <a:endParaRPr>
              <a:solidFill>
                <a:srgbClr val="EEEEEE"/>
              </a:solidFill>
            </a:endParaRPr>
          </a:p>
        </p:txBody>
      </p:sp>
      <p:sp>
        <p:nvSpPr>
          <p:cNvPr id="420" name="Google Shape;420;p51"/>
          <p:cNvSpPr txBox="1"/>
          <p:nvPr/>
        </p:nvSpPr>
        <p:spPr>
          <a:xfrm>
            <a:off x="665062" y="1194477"/>
            <a:ext cx="34233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Merriweather"/>
                <a:ea typeface="Merriweather"/>
                <a:cs typeface="Merriweather"/>
                <a:sym typeface="Merriweather"/>
              </a:rPr>
              <a:t>Case 2 (Cross Validation)</a:t>
            </a:r>
            <a:endParaRPr sz="2000">
              <a:solidFill>
                <a:schemeClr val="dk2"/>
              </a:solidFill>
              <a:latin typeface="Merriweather"/>
              <a:ea typeface="Merriweather"/>
              <a:cs typeface="Merriweather"/>
              <a:sym typeface="Merriweather"/>
            </a:endParaRPr>
          </a:p>
        </p:txBody>
      </p:sp>
      <p:pic>
        <p:nvPicPr>
          <p:cNvPr id="421" name="Google Shape;421;p51" title="Screenshot 2025-11-30 at 12.23.57 AM.png"/>
          <p:cNvPicPr preferRelativeResize="0"/>
          <p:nvPr/>
        </p:nvPicPr>
        <p:blipFill>
          <a:blip r:embed="rId3">
            <a:alphaModFix/>
          </a:blip>
          <a:stretch>
            <a:fillRect/>
          </a:stretch>
        </p:blipFill>
        <p:spPr>
          <a:xfrm>
            <a:off x="4409586" y="1539507"/>
            <a:ext cx="4634926" cy="250078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7" name="Google Shape;427;p52"/>
          <p:cNvSpPr txBox="1"/>
          <p:nvPr>
            <p:ph type="title"/>
          </p:nvPr>
        </p:nvSpPr>
        <p:spPr>
          <a:xfrm>
            <a:off x="147409" y="1643734"/>
            <a:ext cx="4106400" cy="49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50"/>
              <a:t>Multiple Linear Regression</a:t>
            </a:r>
            <a:endParaRPr sz="2250"/>
          </a:p>
        </p:txBody>
      </p:sp>
      <p:sp>
        <p:nvSpPr>
          <p:cNvPr id="428" name="Google Shape;428;p52"/>
          <p:cNvSpPr txBox="1"/>
          <p:nvPr>
            <p:ph idx="1" type="body"/>
          </p:nvPr>
        </p:nvSpPr>
        <p:spPr>
          <a:xfrm>
            <a:off x="248221" y="2296762"/>
            <a:ext cx="39867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a:t>RSE using the training data: 1.2195</a:t>
            </a:r>
            <a:endParaRPr/>
          </a:p>
          <a:p>
            <a:pPr indent="0" lvl="0" marL="0" rtl="0" algn="l">
              <a:spcBef>
                <a:spcPts val="1200"/>
              </a:spcBef>
              <a:spcAft>
                <a:spcPts val="0"/>
              </a:spcAft>
              <a:buClr>
                <a:schemeClr val="accent3"/>
              </a:buClr>
              <a:buSzPts val="1100"/>
              <a:buFont typeface="Arial"/>
              <a:buNone/>
            </a:pPr>
            <a:r>
              <a:rPr lang="en"/>
              <a:t>RSE using the testing data: 1.1299</a:t>
            </a:r>
            <a:endParaRPr/>
          </a:p>
          <a:p>
            <a:pPr indent="0" lvl="0" marL="0" rtl="0" algn="l">
              <a:spcBef>
                <a:spcPts val="1200"/>
              </a:spcBef>
              <a:spcAft>
                <a:spcPts val="0"/>
              </a:spcAft>
              <a:buClr>
                <a:schemeClr val="accent3"/>
              </a:buClr>
              <a:buSzPts val="1100"/>
              <a:buFont typeface="Arial"/>
              <a:buNone/>
            </a:pPr>
            <a:r>
              <a:rPr lang="en"/>
              <a:t>The RSE gap between the training and testing data becomes smaller in the random split when compared to Case 1.</a:t>
            </a:r>
            <a:endParaRPr/>
          </a:p>
          <a:p>
            <a:pPr indent="0" lvl="0" marL="0" rtl="0" algn="l">
              <a:spcBef>
                <a:spcPts val="1200"/>
              </a:spcBef>
              <a:spcAft>
                <a:spcPts val="0"/>
              </a:spcAft>
              <a:buClr>
                <a:schemeClr val="accent3"/>
              </a:buClr>
              <a:buSzPts val="1100"/>
              <a:buFont typeface="Arial"/>
              <a:buNone/>
            </a:pPr>
            <a:r>
              <a:rPr lang="en"/>
              <a:t>Since the training and testing data are not biased toward any specific time period or other features in Case 2, it leads to more balanced and consistent RSE results.</a:t>
            </a:r>
            <a:endParaRPr/>
          </a:p>
          <a:p>
            <a:pPr indent="0" lvl="0" marL="0" rtl="0" algn="l">
              <a:spcBef>
                <a:spcPts val="1200"/>
              </a:spcBef>
              <a:spcAft>
                <a:spcPts val="0"/>
              </a:spcAft>
              <a:buClr>
                <a:schemeClr val="accent3"/>
              </a:buClr>
              <a:buSzPts val="1100"/>
              <a:buFont typeface="Arial"/>
              <a:buNone/>
            </a:pPr>
            <a:r>
              <a:t/>
            </a:r>
            <a:endParaRPr/>
          </a:p>
          <a:p>
            <a:pPr indent="0" lvl="0" marL="0" rtl="0" algn="l">
              <a:spcBef>
                <a:spcPts val="1200"/>
              </a:spcBef>
              <a:spcAft>
                <a:spcPts val="1200"/>
              </a:spcAft>
              <a:buClr>
                <a:schemeClr val="accent3"/>
              </a:buClr>
              <a:buSzPts val="1100"/>
              <a:buFont typeface="Arial"/>
              <a:buNone/>
            </a:pPr>
            <a:r>
              <a:t/>
            </a:r>
            <a:endParaRPr/>
          </a:p>
        </p:txBody>
      </p:sp>
      <p:sp>
        <p:nvSpPr>
          <p:cNvPr id="429" name="Google Shape;429;p52"/>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430" name="Google Shape;430;p52"/>
          <p:cNvSpPr txBox="1"/>
          <p:nvPr>
            <p:ph idx="2" type="body"/>
          </p:nvPr>
        </p:nvSpPr>
        <p:spPr>
          <a:xfrm>
            <a:off x="199922" y="199696"/>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Used Models</a:t>
            </a:r>
            <a:endParaRPr/>
          </a:p>
        </p:txBody>
      </p:sp>
      <p:sp>
        <p:nvSpPr>
          <p:cNvPr id="431" name="Google Shape;431;p52"/>
          <p:cNvSpPr txBox="1"/>
          <p:nvPr>
            <p:ph idx="1" type="body"/>
          </p:nvPr>
        </p:nvSpPr>
        <p:spPr>
          <a:xfrm>
            <a:off x="4801225" y="1902125"/>
            <a:ext cx="3868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accent3"/>
              </a:buClr>
              <a:buSzPts val="1100"/>
              <a:buFont typeface="Arial"/>
              <a:buNone/>
            </a:pPr>
            <a:r>
              <a:rPr lang="en">
                <a:solidFill>
                  <a:srgbClr val="EEEEEE"/>
                </a:solidFill>
              </a:rPr>
              <a:t>그래프 넣기</a:t>
            </a:r>
            <a:endParaRPr>
              <a:solidFill>
                <a:srgbClr val="EEEEEE"/>
              </a:solidFill>
            </a:endParaRPr>
          </a:p>
        </p:txBody>
      </p:sp>
      <p:sp>
        <p:nvSpPr>
          <p:cNvPr id="432" name="Google Shape;432;p52"/>
          <p:cNvSpPr txBox="1"/>
          <p:nvPr/>
        </p:nvSpPr>
        <p:spPr>
          <a:xfrm>
            <a:off x="629832" y="1124018"/>
            <a:ext cx="34233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Merriweather"/>
                <a:ea typeface="Merriweather"/>
                <a:cs typeface="Merriweather"/>
                <a:sym typeface="Merriweather"/>
              </a:rPr>
              <a:t>Case 2 (Cross Validation)</a:t>
            </a:r>
            <a:endParaRPr sz="2000">
              <a:solidFill>
                <a:schemeClr val="dk2"/>
              </a:solidFill>
              <a:latin typeface="Merriweather"/>
              <a:ea typeface="Merriweather"/>
              <a:cs typeface="Merriweather"/>
              <a:sym typeface="Merriweather"/>
            </a:endParaRPr>
          </a:p>
        </p:txBody>
      </p:sp>
      <p:pic>
        <p:nvPicPr>
          <p:cNvPr id="433" name="Google Shape;433;p52" title="Screenshot 2025-11-30 at 12.24.31 AM.png"/>
          <p:cNvPicPr preferRelativeResize="0"/>
          <p:nvPr/>
        </p:nvPicPr>
        <p:blipFill>
          <a:blip r:embed="rId3">
            <a:alphaModFix/>
          </a:blip>
          <a:stretch>
            <a:fillRect/>
          </a:stretch>
        </p:blipFill>
        <p:spPr>
          <a:xfrm>
            <a:off x="4417775" y="1440900"/>
            <a:ext cx="4603377" cy="247028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9" name="Google Shape;439;p53"/>
          <p:cNvSpPr txBox="1"/>
          <p:nvPr>
            <p:ph type="title"/>
          </p:nvPr>
        </p:nvSpPr>
        <p:spPr>
          <a:xfrm>
            <a:off x="142325" y="1580800"/>
            <a:ext cx="4175400" cy="530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50"/>
              <a:t>Polynomial (Ridge) Regression</a:t>
            </a:r>
            <a:endParaRPr sz="2050"/>
          </a:p>
        </p:txBody>
      </p:sp>
      <p:sp>
        <p:nvSpPr>
          <p:cNvPr id="440" name="Google Shape;440;p53"/>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441" name="Google Shape;441;p53"/>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Used Models</a:t>
            </a:r>
            <a:endParaRPr/>
          </a:p>
        </p:txBody>
      </p:sp>
      <p:sp>
        <p:nvSpPr>
          <p:cNvPr id="442" name="Google Shape;442;p53"/>
          <p:cNvSpPr txBox="1"/>
          <p:nvPr/>
        </p:nvSpPr>
        <p:spPr>
          <a:xfrm>
            <a:off x="619575" y="1076263"/>
            <a:ext cx="3423300" cy="3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Merriweather"/>
                <a:ea typeface="Merriweather"/>
                <a:cs typeface="Merriweather"/>
                <a:sym typeface="Merriweather"/>
              </a:rPr>
              <a:t>Case 2 (Cross Validation)</a:t>
            </a:r>
            <a:endParaRPr sz="2000">
              <a:solidFill>
                <a:schemeClr val="dk2"/>
              </a:solidFill>
              <a:latin typeface="Merriweather"/>
              <a:ea typeface="Merriweather"/>
              <a:cs typeface="Merriweather"/>
              <a:sym typeface="Merriweather"/>
            </a:endParaRPr>
          </a:p>
        </p:txBody>
      </p:sp>
      <p:sp>
        <p:nvSpPr>
          <p:cNvPr id="443" name="Google Shape;443;p53"/>
          <p:cNvSpPr txBox="1"/>
          <p:nvPr>
            <p:ph idx="1" type="body"/>
          </p:nvPr>
        </p:nvSpPr>
        <p:spPr>
          <a:xfrm>
            <a:off x="196950" y="2140025"/>
            <a:ext cx="3986700" cy="229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a:t>RSE using the training data: 1.1206</a:t>
            </a:r>
            <a:endParaRPr/>
          </a:p>
          <a:p>
            <a:pPr indent="0" lvl="0" marL="0" rtl="0" algn="l">
              <a:spcBef>
                <a:spcPts val="1200"/>
              </a:spcBef>
              <a:spcAft>
                <a:spcPts val="0"/>
              </a:spcAft>
              <a:buClr>
                <a:schemeClr val="accent3"/>
              </a:buClr>
              <a:buSzPts val="1100"/>
              <a:buFont typeface="Arial"/>
              <a:buNone/>
            </a:pPr>
            <a:r>
              <a:rPr lang="en"/>
              <a:t>RSE using the testing data: 1.1961</a:t>
            </a:r>
            <a:endParaRPr/>
          </a:p>
          <a:p>
            <a:pPr indent="0" lvl="0" marL="0" rtl="0" algn="l">
              <a:spcBef>
                <a:spcPts val="1200"/>
              </a:spcBef>
              <a:spcAft>
                <a:spcPts val="0"/>
              </a:spcAft>
              <a:buClr>
                <a:schemeClr val="accent3"/>
              </a:buClr>
              <a:buSzPts val="1100"/>
              <a:buFont typeface="Arial"/>
              <a:buNone/>
            </a:pPr>
            <a:r>
              <a:rPr lang="en"/>
              <a:t>The RSE using polynomial regression is smaller than the RSE of linear regression when observing the training data, like Case 1</a:t>
            </a:r>
            <a:endParaRPr/>
          </a:p>
          <a:p>
            <a:pPr indent="0" lvl="0" marL="0" rtl="0" algn="l">
              <a:spcBef>
                <a:spcPts val="1200"/>
              </a:spcBef>
              <a:spcAft>
                <a:spcPts val="0"/>
              </a:spcAft>
              <a:buClr>
                <a:schemeClr val="accent3"/>
              </a:buClr>
              <a:buSzPts val="1100"/>
              <a:buFont typeface="Arial"/>
              <a:buNone/>
            </a:pPr>
            <a:r>
              <a:rPr lang="en"/>
              <a:t>Conversely, the RSE using polynomial regression is higher than the RSE of linear regression when observing the testing data, like Case 1.</a:t>
            </a:r>
            <a:endParaRPr/>
          </a:p>
          <a:p>
            <a:pPr indent="0" lvl="0" marL="0" rtl="0" algn="l">
              <a:spcBef>
                <a:spcPts val="1200"/>
              </a:spcBef>
              <a:spcAft>
                <a:spcPts val="0"/>
              </a:spcAft>
              <a:buClr>
                <a:schemeClr val="accent3"/>
              </a:buClr>
              <a:buSzPts val="1100"/>
              <a:buFont typeface="Arial"/>
              <a:buNone/>
            </a:pPr>
            <a:r>
              <a:rPr lang="en"/>
              <a:t> </a:t>
            </a:r>
            <a:endParaRPr/>
          </a:p>
          <a:p>
            <a:pPr indent="0" lvl="0" marL="0" rtl="0" algn="l">
              <a:spcBef>
                <a:spcPts val="1200"/>
              </a:spcBef>
              <a:spcAft>
                <a:spcPts val="1200"/>
              </a:spcAft>
              <a:buClr>
                <a:schemeClr val="accent3"/>
              </a:buClr>
              <a:buSzPts val="1100"/>
              <a:buFont typeface="Arial"/>
              <a:buNone/>
            </a:pPr>
            <a:r>
              <a:t/>
            </a:r>
            <a:endParaRPr/>
          </a:p>
        </p:txBody>
      </p:sp>
      <p:pic>
        <p:nvPicPr>
          <p:cNvPr id="444" name="Google Shape;444;p53" title="Screenshot 2025-11-30 at 12.24.58 AM.png"/>
          <p:cNvPicPr preferRelativeResize="0"/>
          <p:nvPr/>
        </p:nvPicPr>
        <p:blipFill>
          <a:blip r:embed="rId3">
            <a:alphaModFix/>
          </a:blip>
          <a:stretch>
            <a:fillRect/>
          </a:stretch>
        </p:blipFill>
        <p:spPr>
          <a:xfrm>
            <a:off x="4382550" y="1448175"/>
            <a:ext cx="4671401" cy="25022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RSE Results</a:t>
            </a:r>
            <a:endParaRPr/>
          </a:p>
        </p:txBody>
      </p:sp>
      <p:pic>
        <p:nvPicPr>
          <p:cNvPr id="450" name="Google Shape;450;p54" title="Screenshot 2025-11-30 at 11.31.18 AM.png"/>
          <p:cNvPicPr preferRelativeResize="0"/>
          <p:nvPr/>
        </p:nvPicPr>
        <p:blipFill>
          <a:blip r:embed="rId3">
            <a:alphaModFix/>
          </a:blip>
          <a:stretch>
            <a:fillRect/>
          </a:stretch>
        </p:blipFill>
        <p:spPr>
          <a:xfrm>
            <a:off x="311700" y="938625"/>
            <a:ext cx="3999900" cy="969110"/>
          </a:xfrm>
          <a:prstGeom prst="rect">
            <a:avLst/>
          </a:prstGeom>
          <a:noFill/>
          <a:ln>
            <a:noFill/>
          </a:ln>
        </p:spPr>
      </p:pic>
      <p:pic>
        <p:nvPicPr>
          <p:cNvPr id="451" name="Google Shape;451;p54" title="Screenshot 2025-11-30 at 11.31.39 AM.png"/>
          <p:cNvPicPr preferRelativeResize="0"/>
          <p:nvPr/>
        </p:nvPicPr>
        <p:blipFill>
          <a:blip r:embed="rId4">
            <a:alphaModFix/>
          </a:blip>
          <a:stretch>
            <a:fillRect/>
          </a:stretch>
        </p:blipFill>
        <p:spPr>
          <a:xfrm>
            <a:off x="4832400" y="938625"/>
            <a:ext cx="3999902" cy="922099"/>
          </a:xfrm>
          <a:prstGeom prst="rect">
            <a:avLst/>
          </a:prstGeom>
          <a:noFill/>
          <a:ln>
            <a:noFill/>
          </a:ln>
        </p:spPr>
      </p:pic>
      <p:pic>
        <p:nvPicPr>
          <p:cNvPr id="452" name="Google Shape;452;p54" title="Screenshot 2025-11-30 at 11.32.19 AM.png"/>
          <p:cNvPicPr preferRelativeResize="0"/>
          <p:nvPr/>
        </p:nvPicPr>
        <p:blipFill>
          <a:blip r:embed="rId5">
            <a:alphaModFix/>
          </a:blip>
          <a:stretch>
            <a:fillRect/>
          </a:stretch>
        </p:blipFill>
        <p:spPr>
          <a:xfrm>
            <a:off x="517374" y="1907725"/>
            <a:ext cx="3588551" cy="2908074"/>
          </a:xfrm>
          <a:prstGeom prst="rect">
            <a:avLst/>
          </a:prstGeom>
          <a:noFill/>
          <a:ln>
            <a:noFill/>
          </a:ln>
        </p:spPr>
      </p:pic>
      <p:pic>
        <p:nvPicPr>
          <p:cNvPr id="453" name="Google Shape;453;p54" title="Screenshot 2025-11-30 at 11.33.05 AM.png"/>
          <p:cNvPicPr preferRelativeResize="0"/>
          <p:nvPr/>
        </p:nvPicPr>
        <p:blipFill>
          <a:blip r:embed="rId6">
            <a:alphaModFix/>
          </a:blip>
          <a:stretch>
            <a:fillRect/>
          </a:stretch>
        </p:blipFill>
        <p:spPr>
          <a:xfrm>
            <a:off x="4897800" y="1868075"/>
            <a:ext cx="3817778" cy="29477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5"/>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Drawing </a:t>
            </a:r>
            <a:endParaRPr/>
          </a:p>
          <a:p>
            <a:pPr indent="0" lvl="0" marL="0" rtl="0" algn="l">
              <a:spcBef>
                <a:spcPts val="0"/>
              </a:spcBef>
              <a:spcAft>
                <a:spcPts val="0"/>
              </a:spcAft>
              <a:buNone/>
            </a:pPr>
            <a:r>
              <a:rPr lang="en"/>
              <a:t>a Conclusion</a:t>
            </a:r>
            <a:endParaRPr/>
          </a:p>
        </p:txBody>
      </p:sp>
      <p:sp>
        <p:nvSpPr>
          <p:cNvPr id="459" name="Google Shape;459;p55"/>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In this part, our prediction result and the improvement of cross validation would be handled.</a:t>
            </a:r>
            <a:endParaRPr/>
          </a:p>
        </p:txBody>
      </p:sp>
      <p:sp>
        <p:nvSpPr>
          <p:cNvPr id="460" name="Google Shape;460;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Two scientists inside a laboratory discussing." id="461" name="Google Shape;461;p55"/>
          <p:cNvPicPr preferRelativeResize="0"/>
          <p:nvPr>
            <p:ph idx="2" type="pic"/>
          </p:nvPr>
        </p:nvPicPr>
        <p:blipFill rotWithShape="1">
          <a:blip r:embed="rId3">
            <a:alphaModFix/>
          </a:blip>
          <a:srcRect b="0" l="9315" r="9323" t="0"/>
          <a:stretch/>
        </p:blipFill>
        <p:spPr>
          <a:xfrm>
            <a:off x="3726325" y="669925"/>
            <a:ext cx="5220900" cy="4276800"/>
          </a:xfrm>
          <a:prstGeom prst="round2DiagRect">
            <a:avLst>
              <a:gd fmla="val 16667" name="adj1"/>
              <a:gd fmla="val 0" name="adj2"/>
            </a:avLst>
          </a:prstGeom>
        </p:spPr>
      </p:pic>
      <p:sp>
        <p:nvSpPr>
          <p:cNvPr id="462" name="Google Shape;462;p55"/>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Drawing a Conclusion</a:t>
            </a:r>
            <a:endParaRPr/>
          </a:p>
        </p:txBody>
      </p:sp>
      <p:sp>
        <p:nvSpPr>
          <p:cNvPr id="463" name="Google Shape;463;p5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464" name="Google Shape;464;p55"/>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0" name="Google Shape;470;p56"/>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Final result</a:t>
            </a:r>
            <a:endParaRPr/>
          </a:p>
        </p:txBody>
      </p:sp>
      <p:sp>
        <p:nvSpPr>
          <p:cNvPr id="471" name="Google Shape;471;p56"/>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CSE 351 Presentation</a:t>
            </a:r>
            <a:endParaRPr/>
          </a:p>
        </p:txBody>
      </p:sp>
      <p:sp>
        <p:nvSpPr>
          <p:cNvPr id="472" name="Google Shape;472;p56"/>
          <p:cNvSpPr txBox="1"/>
          <p:nvPr/>
        </p:nvSpPr>
        <p:spPr>
          <a:xfrm>
            <a:off x="464025" y="558400"/>
            <a:ext cx="8297100" cy="2233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2"/>
                </a:solidFill>
                <a:latin typeface="Merriweather"/>
                <a:ea typeface="Merriweather"/>
                <a:cs typeface="Merriweather"/>
                <a:sym typeface="Merriweather"/>
              </a:rPr>
              <a:t>1. </a:t>
            </a:r>
            <a:r>
              <a:rPr lang="en" sz="1200">
                <a:solidFill>
                  <a:schemeClr val="dk2"/>
                </a:solidFill>
                <a:latin typeface="Merriweather"/>
                <a:ea typeface="Merriweather"/>
                <a:cs typeface="Merriweather"/>
                <a:sym typeface="Merriweather"/>
              </a:rPr>
              <a:t>Data splitting strategy significantly influences performance</a:t>
            </a:r>
            <a:endParaRPr sz="12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Case 1:</a:t>
            </a:r>
            <a:endParaRPr sz="1000">
              <a:solidFill>
                <a:schemeClr val="dk2"/>
              </a:solidFill>
              <a:latin typeface="Merriweather"/>
              <a:ea typeface="Merriweather"/>
              <a:cs typeface="Merriweather"/>
              <a:sym typeface="Merriweather"/>
            </a:endParaRPr>
          </a:p>
          <a:p>
            <a:pPr indent="-292100" lvl="1" marL="9144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When the data was divided by decades, the predicted curve followed a similar overall trend to the actual data, the predicted values were not close to the true values.</a:t>
            </a:r>
            <a:endParaRPr sz="1000">
              <a:solidFill>
                <a:schemeClr val="dk2"/>
              </a:solidFill>
              <a:latin typeface="Merriweather"/>
              <a:ea typeface="Merriweather"/>
              <a:cs typeface="Merriweather"/>
              <a:sym typeface="Merriweather"/>
            </a:endParaRPr>
          </a:p>
          <a:p>
            <a:pPr indent="-292100" lvl="1" marL="9144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It failed to capture the changes in the scale of the film industry and the actual growth of the market over a certain amount of time. This indicates a limitation in analyzing the problem using only the given dataset.</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Case 2:</a:t>
            </a:r>
            <a:endParaRPr sz="1000">
              <a:solidFill>
                <a:schemeClr val="dk2"/>
              </a:solidFill>
              <a:latin typeface="Merriweather"/>
              <a:ea typeface="Merriweather"/>
              <a:cs typeface="Merriweather"/>
              <a:sym typeface="Merriweather"/>
            </a:endParaRPr>
          </a:p>
          <a:p>
            <a:pPr indent="-292100" lvl="1" marL="9144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On the other hand</a:t>
            </a:r>
            <a:r>
              <a:rPr lang="en" sz="1000">
                <a:solidFill>
                  <a:schemeClr val="dk2"/>
                </a:solidFill>
                <a:latin typeface="Merriweather"/>
                <a:ea typeface="Merriweather"/>
                <a:cs typeface="Merriweather"/>
                <a:sym typeface="Merriweather"/>
              </a:rPr>
              <a:t>, the prediction using randomly split data was not affected by time, but was made only with the data itself. This derived a result having low RSE, though the tendency of case 1 seemed better than the one of case 2.</a:t>
            </a:r>
            <a:endParaRPr sz="1000">
              <a:solidFill>
                <a:schemeClr val="dk2"/>
              </a:solidFill>
              <a:latin typeface="Merriweather"/>
              <a:ea typeface="Merriweather"/>
              <a:cs typeface="Merriweather"/>
              <a:sym typeface="Merriweather"/>
            </a:endParaRPr>
          </a:p>
        </p:txBody>
      </p:sp>
      <p:sp>
        <p:nvSpPr>
          <p:cNvPr id="473" name="Google Shape;473;p56"/>
          <p:cNvSpPr txBox="1"/>
          <p:nvPr/>
        </p:nvSpPr>
        <p:spPr>
          <a:xfrm>
            <a:off x="464025" y="3892900"/>
            <a:ext cx="8336700" cy="1101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2"/>
                </a:solidFill>
                <a:latin typeface="Merriweather"/>
                <a:ea typeface="Merriweather"/>
                <a:cs typeface="Merriweather"/>
                <a:sym typeface="Merriweather"/>
              </a:rPr>
              <a:t>3. Future Improvement</a:t>
            </a:r>
            <a:endParaRPr sz="12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In addition to movie data, time related information such as theater attendance numbers and Netflix subscriber counts would likely lead to more accurate results.</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Applying a more stable feature normalization method is necessary to achieve more accurate results in polynomial regression.</a:t>
            </a:r>
            <a:endParaRPr sz="1000">
              <a:solidFill>
                <a:schemeClr val="dk2"/>
              </a:solidFill>
              <a:latin typeface="Merriweather"/>
              <a:ea typeface="Merriweather"/>
              <a:cs typeface="Merriweather"/>
              <a:sym typeface="Merriweather"/>
            </a:endParaRPr>
          </a:p>
        </p:txBody>
      </p:sp>
      <p:sp>
        <p:nvSpPr>
          <p:cNvPr id="474" name="Google Shape;474;p56"/>
          <p:cNvSpPr txBox="1"/>
          <p:nvPr/>
        </p:nvSpPr>
        <p:spPr>
          <a:xfrm>
            <a:off x="463950" y="2791900"/>
            <a:ext cx="8297100" cy="1101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2"/>
                </a:solidFill>
                <a:latin typeface="Merriweather"/>
                <a:ea typeface="Merriweather"/>
                <a:cs typeface="Merriweather"/>
                <a:sym typeface="Merriweather"/>
              </a:rPr>
              <a:t>2</a:t>
            </a:r>
            <a:r>
              <a:rPr lang="en" sz="1200">
                <a:solidFill>
                  <a:schemeClr val="dk2"/>
                </a:solidFill>
                <a:latin typeface="Merriweather"/>
                <a:ea typeface="Merriweather"/>
                <a:cs typeface="Merriweather"/>
                <a:sym typeface="Merriweather"/>
              </a:rPr>
              <a:t>. Multiple Linear regression record the lowest overall RSE</a:t>
            </a:r>
            <a:endParaRPr sz="12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At first, we thought that the polynomial regression model would have make the best prediction since it does the most complicated calculations among the three models.</a:t>
            </a:r>
            <a:endParaRPr sz="1000">
              <a:solidFill>
                <a:schemeClr val="dk2"/>
              </a:solidFill>
              <a:latin typeface="Merriweather"/>
              <a:ea typeface="Merriweather"/>
              <a:cs typeface="Merriweather"/>
              <a:sym typeface="Merriweather"/>
            </a:endParaRPr>
          </a:p>
          <a:p>
            <a:pPr indent="-292100" lvl="0" marL="457200" rtl="0" algn="l">
              <a:lnSpc>
                <a:spcPct val="150000"/>
              </a:lnSpc>
              <a:spcBef>
                <a:spcPts val="0"/>
              </a:spcBef>
              <a:spcAft>
                <a:spcPts val="0"/>
              </a:spcAft>
              <a:buClr>
                <a:schemeClr val="dk2"/>
              </a:buClr>
              <a:buSzPts val="1000"/>
              <a:buFont typeface="Merriweather"/>
              <a:buChar char="●"/>
            </a:pPr>
            <a:r>
              <a:rPr lang="en" sz="1000">
                <a:solidFill>
                  <a:schemeClr val="dk2"/>
                </a:solidFill>
                <a:latin typeface="Merriweather"/>
                <a:ea typeface="Merriweather"/>
                <a:cs typeface="Merriweather"/>
                <a:sym typeface="Merriweather"/>
              </a:rPr>
              <a:t>However it gave us a result worse than the multiple linear regression model because it was vulnerable to overfitting.</a:t>
            </a:r>
            <a:endParaRPr sz="1000">
              <a:solidFill>
                <a:schemeClr val="dk2"/>
              </a:solidFill>
              <a:latin typeface="Merriweather"/>
              <a:ea typeface="Merriweather"/>
              <a:cs typeface="Merriweather"/>
              <a:sym typeface="Merriweath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7"/>
          <p:cNvSpPr txBox="1"/>
          <p:nvPr/>
        </p:nvSpPr>
        <p:spPr>
          <a:xfrm>
            <a:off x="3211350" y="2182500"/>
            <a:ext cx="2721300" cy="7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700">
                <a:solidFill>
                  <a:schemeClr val="dk2"/>
                </a:solidFill>
                <a:latin typeface="Merriweather"/>
                <a:ea typeface="Merriweather"/>
                <a:cs typeface="Merriweather"/>
                <a:sym typeface="Merriweather"/>
              </a:rPr>
              <a:t>Thank you</a:t>
            </a:r>
            <a:endParaRPr sz="3700">
              <a:solidFill>
                <a:schemeClr val="dk2"/>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